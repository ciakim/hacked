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959" r:id="rId2"/>
    <p:sldId id="2859" r:id="rId3"/>
    <p:sldId id="2860" r:id="rId4"/>
    <p:sldId id="2861" r:id="rId5"/>
    <p:sldId id="2855" r:id="rId6"/>
  </p:sldIdLst>
  <p:sldSz cx="9144000" cy="6858000" type="screen4x3"/>
  <p:notesSz cx="9872663" cy="6797675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141" userDrawn="1">
          <p15:clr>
            <a:srgbClr val="A4A3A4"/>
          </p15:clr>
        </p15:guide>
        <p15:guide id="2" pos="311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A6814F"/>
    <a:srgbClr val="A6764F"/>
    <a:srgbClr val="996633"/>
    <a:srgbClr val="72BFC5"/>
    <a:srgbClr val="5D739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88" autoAdjust="0"/>
    <p:restoredTop sz="88455" autoAdjust="0"/>
  </p:normalViewPr>
  <p:slideViewPr>
    <p:cSldViewPr>
      <p:cViewPr varScale="1">
        <p:scale>
          <a:sx n="76" d="100"/>
          <a:sy n="76" d="100"/>
        </p:scale>
        <p:origin x="-159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12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41048"/>
    </p:cViewPr>
  </p:sorterViewPr>
  <p:notesViewPr>
    <p:cSldViewPr>
      <p:cViewPr varScale="1">
        <p:scale>
          <a:sx n="82" d="100"/>
          <a:sy n="82" d="100"/>
        </p:scale>
        <p:origin x="-3180" y="-96"/>
      </p:cViewPr>
      <p:guideLst>
        <p:guide orient="horz" pos="2141"/>
        <p:guide pos="311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7786" cy="340570"/>
          </a:xfrm>
          <a:prstGeom prst="rect">
            <a:avLst/>
          </a:prstGeom>
        </p:spPr>
        <p:txBody>
          <a:bodyPr vert="horz" lIns="87910" tIns="43955" rIns="87910" bIns="43955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592671" y="0"/>
            <a:ext cx="4277786" cy="340570"/>
          </a:xfrm>
          <a:prstGeom prst="rect">
            <a:avLst/>
          </a:prstGeom>
        </p:spPr>
        <p:txBody>
          <a:bodyPr vert="horz" lIns="87910" tIns="43955" rIns="87910" bIns="43955" rtlCol="0"/>
          <a:lstStyle>
            <a:lvl1pPr algn="r">
              <a:defRPr sz="1200"/>
            </a:lvl1pPr>
          </a:lstStyle>
          <a:p>
            <a:fld id="{FB3CA875-9C19-44D0-85DA-C6FC7CBE4FE2}" type="datetimeFigureOut">
              <a:rPr lang="de-DE" smtClean="0"/>
              <a:pPr/>
              <a:t>17.09.2019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1" y="6457105"/>
            <a:ext cx="4277786" cy="340570"/>
          </a:xfrm>
          <a:prstGeom prst="rect">
            <a:avLst/>
          </a:prstGeom>
        </p:spPr>
        <p:txBody>
          <a:bodyPr vert="horz" lIns="87910" tIns="43955" rIns="87910" bIns="43955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592671" y="6457105"/>
            <a:ext cx="4277786" cy="340570"/>
          </a:xfrm>
          <a:prstGeom prst="rect">
            <a:avLst/>
          </a:prstGeom>
        </p:spPr>
        <p:txBody>
          <a:bodyPr vert="horz" lIns="87910" tIns="43955" rIns="87910" bIns="43955" rtlCol="0" anchor="b"/>
          <a:lstStyle>
            <a:lvl1pPr algn="r">
              <a:defRPr sz="1200"/>
            </a:lvl1pPr>
          </a:lstStyle>
          <a:p>
            <a:fld id="{F5276E84-4378-48E9-B18A-7B4FF0DF401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xmlns="" val="7864508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278155" cy="339884"/>
          </a:xfrm>
          <a:prstGeom prst="rect">
            <a:avLst/>
          </a:prstGeom>
        </p:spPr>
        <p:txBody>
          <a:bodyPr vert="horz" lIns="90961" tIns="45480" rIns="90961" bIns="4548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592225" y="1"/>
            <a:ext cx="4278155" cy="339884"/>
          </a:xfrm>
          <a:prstGeom prst="rect">
            <a:avLst/>
          </a:prstGeom>
        </p:spPr>
        <p:txBody>
          <a:bodyPr vert="horz" lIns="90961" tIns="45480" rIns="90961" bIns="45480" rtlCol="0"/>
          <a:lstStyle>
            <a:lvl1pPr algn="r">
              <a:defRPr sz="1200"/>
            </a:lvl1pPr>
          </a:lstStyle>
          <a:p>
            <a:fld id="{275BB9E9-7896-4A8D-926B-43E7462B8E8B}" type="datetimeFigureOut">
              <a:rPr lang="de-DE" smtClean="0"/>
              <a:pPr/>
              <a:t>17.09.2019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11175"/>
            <a:ext cx="3398837" cy="25479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961" tIns="45480" rIns="90961" bIns="4548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87267" y="3228897"/>
            <a:ext cx="7898130" cy="3058953"/>
          </a:xfrm>
          <a:prstGeom prst="rect">
            <a:avLst/>
          </a:prstGeom>
        </p:spPr>
        <p:txBody>
          <a:bodyPr vert="horz" lIns="90961" tIns="45480" rIns="90961" bIns="4548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155" cy="339884"/>
          </a:xfrm>
          <a:prstGeom prst="rect">
            <a:avLst/>
          </a:prstGeom>
        </p:spPr>
        <p:txBody>
          <a:bodyPr vert="horz" lIns="90961" tIns="45480" rIns="90961" bIns="4548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592225" y="6456612"/>
            <a:ext cx="4278155" cy="339884"/>
          </a:xfrm>
          <a:prstGeom prst="rect">
            <a:avLst/>
          </a:prstGeom>
        </p:spPr>
        <p:txBody>
          <a:bodyPr vert="horz" lIns="90961" tIns="45480" rIns="90961" bIns="45480" rtlCol="0" anchor="b"/>
          <a:lstStyle>
            <a:lvl1pPr algn="r">
              <a:defRPr sz="1200"/>
            </a:lvl1pPr>
          </a:lstStyle>
          <a:p>
            <a:fld id="{8B92D1E8-2CB5-4D46-AC71-2B66F793A8A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xmlns="" val="3509869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2D1E8-2CB5-4D46-AC71-2B66F793A8A5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xmlns="" val="3368309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M_01_nur_Textf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7244308" cy="548680"/>
          </a:xfrm>
          <a:prstGeom prst="rect">
            <a:avLst/>
          </a:prstGeom>
        </p:spPr>
        <p:txBody>
          <a:bodyPr lIns="180000" tIns="36000" rIns="36000" bIns="36000" anchor="ctr" anchorCtr="0">
            <a:noAutofit/>
          </a:bodyPr>
          <a:lstStyle>
            <a:lvl1pPr>
              <a:defRPr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" y="683999"/>
            <a:ext cx="9138462" cy="5832000"/>
          </a:xfrm>
          <a:prstGeom prst="rect">
            <a:avLst/>
          </a:prstGeom>
        </p:spPr>
        <p:txBody>
          <a:bodyPr lIns="180000" tIns="180000" rIns="180000" bIns="180000"/>
          <a:lstStyle>
            <a:lvl1pPr marL="180975" indent="-18097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tx1"/>
                </a:solidFill>
              </a:defRPr>
            </a:lvl1pPr>
            <a:lvl2pPr marL="447675" indent="-2667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Erste Ebene 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/>
          </p:nvPr>
        </p:nvSpPr>
        <p:spPr>
          <a:xfrm>
            <a:off x="1" y="6606003"/>
            <a:ext cx="1791181" cy="226591"/>
          </a:xfrm>
          <a:prstGeom prst="rect">
            <a:avLst/>
          </a:prstGeom>
        </p:spPr>
        <p:txBody>
          <a:bodyPr wrap="none" lIns="180000" tIns="36000" rIns="36000" bIns="36000" anchor="ctr" anchorCtr="0">
            <a:spAutoFit/>
          </a:bodyPr>
          <a:lstStyle>
            <a:lvl1pPr marL="0" indent="0">
              <a:spcBef>
                <a:spcPts val="0"/>
              </a:spcBef>
              <a:buNone/>
              <a:defRPr sz="1000" i="1">
                <a:solidFill>
                  <a:schemeClr val="accent1"/>
                </a:solidFill>
              </a:defRPr>
            </a:lvl1pPr>
            <a:lvl2pPr>
              <a:defRPr sz="1000" i="1">
                <a:solidFill>
                  <a:schemeClr val="accent1"/>
                </a:solidFill>
              </a:defRPr>
            </a:lvl2pPr>
            <a:lvl3pPr>
              <a:defRPr sz="1000" i="1">
                <a:solidFill>
                  <a:schemeClr val="accent1"/>
                </a:solidFill>
              </a:defRPr>
            </a:lvl3pPr>
            <a:lvl4pPr>
              <a:defRPr sz="1000" i="1">
                <a:solidFill>
                  <a:schemeClr val="accent1"/>
                </a:solidFill>
              </a:defRPr>
            </a:lvl4pPr>
            <a:lvl5pPr>
              <a:defRPr sz="1000" i="1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xmlns="" val="2947910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M_02_Überschrift_ex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7244308" cy="548680"/>
          </a:xfrm>
          <a:prstGeom prst="rect">
            <a:avLst/>
          </a:prstGeom>
        </p:spPr>
        <p:txBody>
          <a:bodyPr lIns="180000" tIns="36000" rIns="36000" bIns="36000" anchor="ctr" anchorCtr="0">
            <a:noAutofit/>
          </a:bodyPr>
          <a:lstStyle>
            <a:lvl1pPr>
              <a:defRPr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" y="684002"/>
            <a:ext cx="9138462" cy="656769"/>
          </a:xfrm>
          <a:prstGeom prst="rect">
            <a:avLst/>
          </a:prstGeom>
        </p:spPr>
        <p:txBody>
          <a:bodyPr lIns="180000" tIns="180000" rIns="180000" bIns="18000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1" baseline="0">
                <a:solidFill>
                  <a:schemeClr val="tx1"/>
                </a:solidFill>
              </a:defRPr>
            </a:lvl1pPr>
            <a:lvl2pPr marL="447675" indent="-2667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Überschrift 2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/>
          </p:nvPr>
        </p:nvSpPr>
        <p:spPr>
          <a:xfrm>
            <a:off x="1" y="6606003"/>
            <a:ext cx="1791181" cy="226591"/>
          </a:xfrm>
          <a:prstGeom prst="rect">
            <a:avLst/>
          </a:prstGeom>
        </p:spPr>
        <p:txBody>
          <a:bodyPr wrap="none" lIns="180000" tIns="36000" rIns="36000" bIns="36000" anchor="ctr" anchorCtr="0">
            <a:spAutoFit/>
          </a:bodyPr>
          <a:lstStyle>
            <a:lvl1pPr marL="0" indent="0">
              <a:spcBef>
                <a:spcPts val="0"/>
              </a:spcBef>
              <a:buNone/>
              <a:defRPr sz="1000" i="1">
                <a:solidFill>
                  <a:schemeClr val="accent1"/>
                </a:solidFill>
              </a:defRPr>
            </a:lvl1pPr>
            <a:lvl2pPr>
              <a:defRPr sz="1000" i="1">
                <a:solidFill>
                  <a:schemeClr val="accent1"/>
                </a:solidFill>
              </a:defRPr>
            </a:lvl2pPr>
            <a:lvl3pPr>
              <a:defRPr sz="1000" i="1">
                <a:solidFill>
                  <a:schemeClr val="accent1"/>
                </a:solidFill>
              </a:defRPr>
            </a:lvl3pPr>
            <a:lvl4pPr>
              <a:defRPr sz="1000" i="1">
                <a:solidFill>
                  <a:schemeClr val="accent1"/>
                </a:solidFill>
              </a:defRPr>
            </a:lvl4pPr>
            <a:lvl5pPr>
              <a:defRPr sz="1000" i="1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188000"/>
            <a:ext cx="9138462" cy="584816"/>
          </a:xfrm>
          <a:prstGeom prst="rect">
            <a:avLst/>
          </a:prstGeom>
        </p:spPr>
        <p:txBody>
          <a:bodyPr lIns="180000" tIns="180000" rIns="180000" bIns="18000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 baseline="0">
                <a:solidFill>
                  <a:schemeClr val="tx1"/>
                </a:solidFill>
              </a:defRPr>
            </a:lvl1pPr>
            <a:lvl2pPr marL="447675" indent="-2667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Überschrift 3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3"/>
          </p:nvPr>
        </p:nvSpPr>
        <p:spPr>
          <a:xfrm>
            <a:off x="1" y="1548000"/>
            <a:ext cx="9138462" cy="4977344"/>
          </a:xfrm>
          <a:prstGeom prst="rect">
            <a:avLst/>
          </a:prstGeom>
        </p:spPr>
        <p:txBody>
          <a:bodyPr lIns="180000" tIns="180000" rIns="180000" bIns="18000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aseline="0">
                <a:solidFill>
                  <a:schemeClr val="tx1"/>
                </a:solidFill>
              </a:defRPr>
            </a:lvl1pPr>
            <a:lvl2pPr marL="447675" indent="-2667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xmlns="" val="3526379955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M_03_Trennbla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7244308" cy="548680"/>
          </a:xfrm>
          <a:prstGeom prst="rect">
            <a:avLst/>
          </a:prstGeom>
        </p:spPr>
        <p:txBody>
          <a:bodyPr lIns="180000" tIns="36000" rIns="36000" bIns="36000" anchor="ctr" anchorCtr="0">
            <a:noAutofit/>
          </a:bodyPr>
          <a:lstStyle>
            <a:lvl1pPr>
              <a:defRPr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" y="1772818"/>
            <a:ext cx="9138462" cy="1512169"/>
          </a:xfrm>
          <a:prstGeom prst="rect">
            <a:avLst/>
          </a:prstGeom>
        </p:spPr>
        <p:txBody>
          <a:bodyPr lIns="360000" tIns="180000" rIns="360000" bIns="18000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600" b="0" baseline="0">
                <a:solidFill>
                  <a:schemeClr val="accent1"/>
                </a:solidFill>
              </a:defRPr>
            </a:lvl1pPr>
            <a:lvl2pPr marL="447675" indent="-2667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5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3356994"/>
            <a:ext cx="9138462" cy="648073"/>
          </a:xfrm>
          <a:prstGeom prst="rect">
            <a:avLst/>
          </a:prstGeom>
        </p:spPr>
        <p:txBody>
          <a:bodyPr lIns="360000" tIns="180000" rIns="360000" bIns="18000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1" baseline="0">
                <a:solidFill>
                  <a:schemeClr val="accent1"/>
                </a:solidFill>
              </a:defRPr>
            </a:lvl1pPr>
            <a:lvl2pPr marL="447675" indent="-2667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Titel des Kapitels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" y="4005067"/>
            <a:ext cx="9138462" cy="2510935"/>
          </a:xfrm>
          <a:prstGeom prst="rect">
            <a:avLst/>
          </a:prstGeom>
        </p:spPr>
        <p:txBody>
          <a:bodyPr lIns="360000" tIns="180000" rIns="360000" bIns="18000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baseline="0">
                <a:solidFill>
                  <a:schemeClr val="accent1"/>
                </a:solidFill>
              </a:defRPr>
            </a:lvl1pPr>
            <a:lvl2pPr marL="447675" indent="-2667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1.1 Gliederungspunkt</a:t>
            </a:r>
          </a:p>
        </p:txBody>
      </p:sp>
    </p:spTree>
    <p:extLst>
      <p:ext uri="{BB962C8B-B14F-4D97-AF65-F5344CB8AC3E}">
        <p14:creationId xmlns:p14="http://schemas.microsoft.com/office/powerpoint/2010/main" xmlns="" val="263280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FBEBBD68-6702-4F3E-8044-5F23E2441844}" type="datetimeFigureOut">
              <a:rPr lang="de-DE" smtClean="0"/>
              <a:pPr/>
              <a:t>17.09.2019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26831DB3-A0A2-47AA-9723-DC92F4EAACA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xmlns="" val="1722437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Text Box 7"/>
          <p:cNvSpPr txBox="1">
            <a:spLocks noChangeArrowheads="1"/>
          </p:cNvSpPr>
          <p:nvPr/>
        </p:nvSpPr>
        <p:spPr bwMode="auto">
          <a:xfrm>
            <a:off x="0" y="565639"/>
            <a:ext cx="7310769" cy="36000"/>
          </a:xfrm>
          <a:prstGeom prst="rect">
            <a:avLst/>
          </a:prstGeom>
          <a:solidFill>
            <a:srgbClr val="FF9E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7280" tIns="53640" rIns="107280" bIns="5364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7279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832096" y="6561556"/>
            <a:ext cx="7310769" cy="36000"/>
          </a:xfrm>
          <a:prstGeom prst="rect">
            <a:avLst/>
          </a:prstGeom>
          <a:solidFill>
            <a:srgbClr val="FF9E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07280" tIns="53640" rIns="107280" bIns="5364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7279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Textfeld 7"/>
          <p:cNvSpPr txBox="1"/>
          <p:nvPr userDrawn="1"/>
        </p:nvSpPr>
        <p:spPr>
          <a:xfrm>
            <a:off x="971601" y="6605586"/>
            <a:ext cx="7721473" cy="226585"/>
          </a:xfrm>
          <a:prstGeom prst="rect">
            <a:avLst/>
          </a:prstGeom>
          <a:noFill/>
        </p:spPr>
        <p:txBody>
          <a:bodyPr wrap="square" lIns="143991" tIns="35997" rIns="143991" bIns="35997" rtlCol="0">
            <a:spAutoFit/>
          </a:bodyPr>
          <a:lstStyle/>
          <a:p>
            <a:pPr algn="r"/>
            <a:r>
              <a:rPr lang="de-DE" sz="1000" b="0" i="0" dirty="0">
                <a:solidFill>
                  <a:schemeClr val="accent1"/>
                </a:solidFill>
              </a:rPr>
              <a:t>ISM </a:t>
            </a:r>
            <a:r>
              <a:rPr lang="de-DE" sz="1000" b="0" i="0" dirty="0" err="1" smtClean="0">
                <a:solidFill>
                  <a:schemeClr val="accent1"/>
                </a:solidFill>
              </a:rPr>
              <a:t>winter</a:t>
            </a:r>
            <a:r>
              <a:rPr lang="de-DE" sz="1000" b="0" i="0" dirty="0" smtClean="0">
                <a:solidFill>
                  <a:schemeClr val="accent1"/>
                </a:solidFill>
              </a:rPr>
              <a:t> 2019/2020 </a:t>
            </a:r>
            <a:r>
              <a:rPr lang="de-DE" sz="1000" b="0" i="0" dirty="0">
                <a:solidFill>
                  <a:schemeClr val="accent1"/>
                </a:solidFill>
              </a:rPr>
              <a:t>·  Cross-Cultural Leadership  ·  Happ/Malycha/Netzel/Scheuring</a:t>
            </a:r>
          </a:p>
        </p:txBody>
      </p:sp>
      <p:sp>
        <p:nvSpPr>
          <p:cNvPr id="3" name="Textfeld 2"/>
          <p:cNvSpPr txBox="1"/>
          <p:nvPr/>
        </p:nvSpPr>
        <p:spPr bwMode="auto">
          <a:xfrm>
            <a:off x="8693073" y="6606000"/>
            <a:ext cx="452034" cy="25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fld id="{D023DE15-4439-41E1-AC02-E25FBC4CD9C7}" type="slidenum">
              <a:rPr lang="de-DE" sz="1200" smtClean="0">
                <a:solidFill>
                  <a:schemeClr val="accent1"/>
                </a:solidFill>
                <a:latin typeface="Calibri" pitchFamily="34" charset="0"/>
              </a:rPr>
              <a:pPr algn="ctr">
                <a:lnSpc>
                  <a:spcPct val="100000"/>
                </a:lnSpc>
                <a:spcAft>
                  <a:spcPts val="0"/>
                </a:spcAft>
              </a:pPr>
              <a:t>‹Nr.›</a:t>
            </a:fld>
            <a:endParaRPr lang="de-DE" sz="1200" dirty="0">
              <a:solidFill>
                <a:schemeClr val="accent1"/>
              </a:solidFill>
              <a:latin typeface="Calibri" pitchFamily="34" charset="0"/>
            </a:endParaRPr>
          </a:p>
        </p:txBody>
      </p:sp>
      <p:pic>
        <p:nvPicPr>
          <p:cNvPr id="1026" name="Picture 2" descr="C:\Users\schlesinger\2_Dieter\___ISM_ToDo\ISM_Logo_zentriert_CMYK.JPG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563101" y="61639"/>
            <a:ext cx="1356567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txStyles>
    <p:titleStyle>
      <a:lvl1pPr algn="l" defTabSz="1072798" rtl="0" eaLnBrk="1" latinLnBrk="0" hangingPunct="1">
        <a:spcBef>
          <a:spcPct val="0"/>
        </a:spcBef>
        <a:buNone/>
        <a:defRPr kumimoji="0" lang="de-DE" sz="2800" b="1" i="0" u="none" strike="noStrike" kern="1200" cap="none" normalizeH="0" baseline="0" dirty="0" smtClean="0">
          <a:ln>
            <a:noFill/>
          </a:ln>
          <a:solidFill>
            <a:schemeClr val="bg1"/>
          </a:solidFill>
          <a:effectLst/>
          <a:latin typeface="Arial" pitchFamily="34" charset="0"/>
          <a:ea typeface="+mn-ea"/>
          <a:cs typeface="+mn-cs"/>
        </a:defRPr>
      </a:lvl1pPr>
    </p:titleStyle>
    <p:bodyStyle>
      <a:lvl1pPr marL="402300" indent="-402300" algn="l" defTabSz="1072798" rtl="0" eaLnBrk="1" latinLnBrk="0" hangingPunct="1">
        <a:spcBef>
          <a:spcPct val="20000"/>
        </a:spcBef>
        <a:buFont typeface="Arial" pitchFamily="34" charset="0"/>
        <a:buChar char="•"/>
        <a:defRPr sz="3800" kern="1200">
          <a:solidFill>
            <a:srgbClr val="002060"/>
          </a:solidFill>
          <a:latin typeface="+mn-lt"/>
          <a:ea typeface="+mn-ea"/>
          <a:cs typeface="+mn-cs"/>
        </a:defRPr>
      </a:lvl1pPr>
      <a:lvl2pPr marL="871648" indent="-335249" algn="l" defTabSz="1072798" rtl="0" eaLnBrk="1" latinLnBrk="0" hangingPunct="1">
        <a:spcBef>
          <a:spcPct val="20000"/>
        </a:spcBef>
        <a:buFont typeface="Arial" pitchFamily="34" charset="0"/>
        <a:buChar char="–"/>
        <a:defRPr sz="3300" kern="1200">
          <a:solidFill>
            <a:srgbClr val="002060"/>
          </a:solidFill>
          <a:latin typeface="+mn-lt"/>
          <a:ea typeface="+mn-ea"/>
          <a:cs typeface="+mn-cs"/>
        </a:defRPr>
      </a:lvl2pPr>
      <a:lvl3pPr marL="1340997" indent="-268199" algn="l" defTabSz="1072798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rgbClr val="002060"/>
          </a:solidFill>
          <a:latin typeface="+mn-lt"/>
          <a:ea typeface="+mn-ea"/>
          <a:cs typeface="+mn-cs"/>
        </a:defRPr>
      </a:lvl3pPr>
      <a:lvl4pPr marL="1877396" indent="-268199" algn="l" defTabSz="1072798" rtl="0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rgbClr val="002060"/>
          </a:solidFill>
          <a:latin typeface="+mn-lt"/>
          <a:ea typeface="+mn-ea"/>
          <a:cs typeface="+mn-cs"/>
        </a:defRPr>
      </a:lvl4pPr>
      <a:lvl5pPr marL="2413795" indent="-268199" algn="l" defTabSz="1072798" rtl="0" eaLnBrk="1" latinLnBrk="0" hangingPunct="1">
        <a:spcBef>
          <a:spcPct val="20000"/>
        </a:spcBef>
        <a:buFont typeface="Arial" pitchFamily="34" charset="0"/>
        <a:buChar char="»"/>
        <a:defRPr sz="2300" kern="1200">
          <a:solidFill>
            <a:srgbClr val="002060"/>
          </a:solidFill>
          <a:latin typeface="+mn-lt"/>
          <a:ea typeface="+mn-ea"/>
          <a:cs typeface="+mn-cs"/>
        </a:defRPr>
      </a:lvl5pPr>
      <a:lvl6pPr marL="2950194" indent="-268199" algn="l" defTabSz="1072798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86593" indent="-268199" algn="l" defTabSz="1072798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2992" indent="-268199" algn="l" defTabSz="1072798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59390" indent="-268199" algn="l" defTabSz="1072798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7279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6399" algn="l" defTabSz="107279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2798" algn="l" defTabSz="107279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9197" algn="l" defTabSz="107279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5595" algn="l" defTabSz="107279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1994" algn="l" defTabSz="107279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18394" algn="l" defTabSz="107279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54792" algn="l" defTabSz="107279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91191" algn="l" defTabSz="107279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Oral </a:t>
            </a:r>
            <a:r>
              <a:rPr lang="de-DE" dirty="0" err="1"/>
              <a:t>presentation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smtClean="0"/>
              <a:t>Scientific </a:t>
            </a:r>
            <a:r>
              <a:rPr lang="de-DE" dirty="0" err="1" smtClean="0"/>
              <a:t>paper</a:t>
            </a:r>
            <a:r>
              <a:rPr lang="de-DE" dirty="0" smtClean="0"/>
              <a:t> </a:t>
            </a:r>
            <a:endParaRPr lang="de-DE" dirty="0"/>
          </a:p>
          <a:p>
            <a:endParaRPr lang="de-DE" sz="200" b="0" dirty="0" smtClean="0"/>
          </a:p>
          <a:p>
            <a:r>
              <a:rPr lang="de-DE" sz="1600" dirty="0" err="1" smtClean="0"/>
              <a:t>Please</a:t>
            </a:r>
            <a:r>
              <a:rPr lang="de-DE" sz="1600" dirty="0" smtClean="0"/>
              <a:t> </a:t>
            </a:r>
            <a:r>
              <a:rPr lang="de-DE" sz="1600" dirty="0" err="1" smtClean="0"/>
              <a:t>briefly</a:t>
            </a:r>
            <a:r>
              <a:rPr lang="de-DE" sz="1600" dirty="0" smtClean="0"/>
              <a:t> </a:t>
            </a:r>
            <a:r>
              <a:rPr lang="de-DE" sz="1600" dirty="0" err="1" smtClean="0"/>
              <a:t>present</a:t>
            </a:r>
            <a:r>
              <a:rPr lang="de-DE" sz="1600" dirty="0" smtClean="0"/>
              <a:t> </a:t>
            </a:r>
            <a:r>
              <a:rPr lang="de-DE" sz="1600" dirty="0" err="1" smtClean="0"/>
              <a:t>the</a:t>
            </a:r>
            <a:r>
              <a:rPr lang="de-DE" sz="1600" dirty="0" smtClean="0"/>
              <a:t> </a:t>
            </a:r>
            <a:r>
              <a:rPr lang="de-DE" sz="1600" dirty="0" err="1" smtClean="0"/>
              <a:t>study</a:t>
            </a:r>
            <a:r>
              <a:rPr lang="de-DE" sz="1600" dirty="0" smtClean="0"/>
              <a:t> design </a:t>
            </a:r>
            <a:r>
              <a:rPr lang="de-DE" sz="1600" dirty="0" err="1" smtClean="0"/>
              <a:t>and</a:t>
            </a:r>
            <a:r>
              <a:rPr lang="de-DE" sz="1600" dirty="0" smtClean="0"/>
              <a:t> </a:t>
            </a:r>
            <a:r>
              <a:rPr lang="de-DE" sz="1600" dirty="0" err="1" smtClean="0"/>
              <a:t>the</a:t>
            </a:r>
            <a:r>
              <a:rPr lang="de-DE" sz="1600" dirty="0" smtClean="0"/>
              <a:t> </a:t>
            </a:r>
            <a:r>
              <a:rPr lang="de-DE" sz="1600" dirty="0" err="1" smtClean="0"/>
              <a:t>core</a:t>
            </a:r>
            <a:r>
              <a:rPr lang="de-DE" sz="1600" dirty="0" smtClean="0"/>
              <a:t> </a:t>
            </a:r>
            <a:r>
              <a:rPr lang="de-DE" sz="1600" dirty="0" err="1" smtClean="0"/>
              <a:t>results</a:t>
            </a:r>
            <a:r>
              <a:rPr lang="de-DE" sz="1600" dirty="0" smtClean="0"/>
              <a:t> </a:t>
            </a:r>
            <a:r>
              <a:rPr lang="de-DE" sz="1600" dirty="0" err="1" smtClean="0"/>
              <a:t>of</a:t>
            </a:r>
            <a:r>
              <a:rPr lang="de-DE" sz="1600" dirty="0" smtClean="0"/>
              <a:t> </a:t>
            </a:r>
            <a:r>
              <a:rPr lang="de-DE" sz="1600" dirty="0" err="1" smtClean="0"/>
              <a:t>one</a:t>
            </a:r>
            <a:r>
              <a:rPr lang="de-DE" sz="1600" dirty="0" smtClean="0"/>
              <a:t> </a:t>
            </a:r>
            <a:r>
              <a:rPr lang="de-DE" sz="1600" dirty="0" err="1" smtClean="0"/>
              <a:t>of</a:t>
            </a:r>
            <a:r>
              <a:rPr lang="de-DE" sz="1600" dirty="0" smtClean="0"/>
              <a:t> </a:t>
            </a:r>
            <a:r>
              <a:rPr lang="de-DE" sz="1600" dirty="0" err="1" smtClean="0"/>
              <a:t>the</a:t>
            </a:r>
            <a:r>
              <a:rPr lang="de-DE" sz="1600" dirty="0" smtClean="0"/>
              <a:t> </a:t>
            </a:r>
            <a:r>
              <a:rPr lang="de-DE" sz="1600" dirty="0" err="1" smtClean="0"/>
              <a:t>following</a:t>
            </a:r>
            <a:r>
              <a:rPr lang="de-DE" sz="1600" dirty="0" smtClean="0"/>
              <a:t> </a:t>
            </a:r>
            <a:r>
              <a:rPr lang="de-DE" sz="1600" dirty="0" err="1" smtClean="0"/>
              <a:t>scientific</a:t>
            </a:r>
            <a:r>
              <a:rPr lang="de-DE" sz="1600" dirty="0" smtClean="0"/>
              <a:t> </a:t>
            </a:r>
            <a:r>
              <a:rPr lang="de-DE" sz="1600" dirty="0" err="1" smtClean="0"/>
              <a:t>papers</a:t>
            </a:r>
            <a:r>
              <a:rPr lang="de-DE" sz="1600" dirty="0" smtClean="0"/>
              <a:t> </a:t>
            </a:r>
            <a:r>
              <a:rPr lang="de-DE" sz="1600" dirty="0" err="1" smtClean="0"/>
              <a:t>with</a:t>
            </a:r>
            <a:r>
              <a:rPr lang="de-DE" sz="1600" dirty="0" smtClean="0"/>
              <a:t> </a:t>
            </a:r>
            <a:r>
              <a:rPr lang="de-DE" sz="1600" dirty="0" err="1" smtClean="0"/>
              <a:t>respect</a:t>
            </a:r>
            <a:r>
              <a:rPr lang="de-DE" sz="1600" dirty="0" smtClean="0"/>
              <a:t> </a:t>
            </a:r>
            <a:r>
              <a:rPr lang="de-DE" sz="1600" dirty="0" err="1" smtClean="0"/>
              <a:t>to</a:t>
            </a:r>
            <a:r>
              <a:rPr lang="de-DE" sz="1600" dirty="0" smtClean="0"/>
              <a:t> </a:t>
            </a:r>
            <a:r>
              <a:rPr lang="de-DE" sz="1600" dirty="0" err="1" smtClean="0"/>
              <a:t>practical</a:t>
            </a:r>
            <a:r>
              <a:rPr lang="de-DE" sz="1600" dirty="0"/>
              <a:t> </a:t>
            </a:r>
            <a:r>
              <a:rPr lang="de-DE" sz="1600" dirty="0" err="1" smtClean="0"/>
              <a:t>implications</a:t>
            </a:r>
            <a:r>
              <a:rPr lang="de-DE" sz="1600" dirty="0" smtClean="0"/>
              <a:t> </a:t>
            </a:r>
            <a:r>
              <a:rPr lang="de-DE" sz="1600" dirty="0" err="1" smtClean="0"/>
              <a:t>for</a:t>
            </a:r>
            <a:r>
              <a:rPr lang="de-DE" sz="1600" dirty="0" smtClean="0"/>
              <a:t> </a:t>
            </a:r>
            <a:r>
              <a:rPr lang="de-DE" sz="1600" dirty="0" err="1" smtClean="0"/>
              <a:t>cross-cultural</a:t>
            </a:r>
            <a:r>
              <a:rPr lang="de-DE" sz="1600" dirty="0"/>
              <a:t> </a:t>
            </a:r>
            <a:r>
              <a:rPr lang="de-DE" sz="1600" dirty="0" err="1" smtClean="0"/>
              <a:t>communication</a:t>
            </a:r>
            <a:r>
              <a:rPr lang="de-DE" sz="1600" dirty="0" smtClean="0"/>
              <a:t>/ </a:t>
            </a:r>
            <a:r>
              <a:rPr lang="de-DE" sz="1600" dirty="0" err="1" smtClean="0"/>
              <a:t>leadership</a:t>
            </a:r>
            <a:r>
              <a:rPr lang="de-DE" sz="1600" dirty="0" smtClean="0"/>
              <a:t>. Keep </a:t>
            </a:r>
            <a:r>
              <a:rPr lang="de-DE" sz="1600" dirty="0" err="1" smtClean="0"/>
              <a:t>your</a:t>
            </a:r>
            <a:r>
              <a:rPr lang="de-DE" sz="1600" dirty="0" smtClean="0"/>
              <a:t> </a:t>
            </a:r>
            <a:r>
              <a:rPr lang="de-DE" sz="1600" dirty="0" err="1" smtClean="0"/>
              <a:t>messages</a:t>
            </a:r>
            <a:r>
              <a:rPr lang="de-DE" sz="1600" dirty="0" smtClean="0"/>
              <a:t> </a:t>
            </a:r>
            <a:r>
              <a:rPr lang="de-DE" sz="1600" dirty="0" err="1" smtClean="0"/>
              <a:t>to</a:t>
            </a:r>
            <a:r>
              <a:rPr lang="de-DE" sz="1600" dirty="0" smtClean="0"/>
              <a:t> </a:t>
            </a:r>
            <a:r>
              <a:rPr lang="de-DE" sz="1600" dirty="0" err="1" smtClean="0"/>
              <a:t>the</a:t>
            </a:r>
            <a:r>
              <a:rPr lang="de-DE" sz="1600" dirty="0" smtClean="0"/>
              <a:t> </a:t>
            </a:r>
            <a:r>
              <a:rPr lang="de-DE" sz="1600" dirty="0" err="1" smtClean="0"/>
              <a:t>point</a:t>
            </a:r>
            <a:r>
              <a:rPr lang="de-DE" sz="1600" dirty="0" smtClean="0"/>
              <a:t> </a:t>
            </a:r>
            <a:r>
              <a:rPr lang="de-DE" sz="1600" dirty="0" err="1" smtClean="0"/>
              <a:t>within</a:t>
            </a:r>
            <a:r>
              <a:rPr lang="de-DE" sz="1600" dirty="0" smtClean="0"/>
              <a:t> 15 </a:t>
            </a:r>
            <a:r>
              <a:rPr lang="de-DE" sz="1600" dirty="0" err="1" smtClean="0"/>
              <a:t>minutes</a:t>
            </a:r>
            <a:r>
              <a:rPr lang="de-DE" sz="1600" dirty="0" smtClean="0"/>
              <a:t> </a:t>
            </a:r>
            <a:r>
              <a:rPr lang="de-DE" sz="1600" dirty="0" err="1" smtClean="0"/>
              <a:t>speaking</a:t>
            </a:r>
            <a:r>
              <a:rPr lang="de-DE" sz="1600" dirty="0" smtClean="0"/>
              <a:t> time. </a:t>
            </a:r>
            <a:r>
              <a:rPr lang="de-DE" sz="1600" dirty="0" err="1" smtClean="0"/>
              <a:t>Reflect</a:t>
            </a:r>
            <a:r>
              <a:rPr lang="de-DE" sz="1600" dirty="0" smtClean="0"/>
              <a:t> </a:t>
            </a:r>
            <a:r>
              <a:rPr lang="de-DE" sz="1600" dirty="0" err="1" smtClean="0"/>
              <a:t>and</a:t>
            </a:r>
            <a:r>
              <a:rPr lang="de-DE" sz="1600" dirty="0" smtClean="0"/>
              <a:t> </a:t>
            </a:r>
            <a:r>
              <a:rPr lang="de-DE" sz="1600" dirty="0" err="1" smtClean="0"/>
              <a:t>discuss</a:t>
            </a:r>
            <a:r>
              <a:rPr lang="de-DE" sz="1600" dirty="0" smtClean="0"/>
              <a:t> </a:t>
            </a:r>
            <a:r>
              <a:rPr lang="de-DE" sz="1600" dirty="0" err="1" smtClean="0"/>
              <a:t>your</a:t>
            </a:r>
            <a:r>
              <a:rPr lang="de-DE" sz="1600" dirty="0" smtClean="0"/>
              <a:t> </a:t>
            </a:r>
            <a:r>
              <a:rPr lang="de-DE" sz="1600" dirty="0" err="1" smtClean="0"/>
              <a:t>insights</a:t>
            </a:r>
            <a:r>
              <a:rPr lang="de-DE" sz="1600" dirty="0" smtClean="0"/>
              <a:t> </a:t>
            </a:r>
            <a:r>
              <a:rPr lang="de-DE" sz="1600" dirty="0" err="1" smtClean="0"/>
              <a:t>with</a:t>
            </a:r>
            <a:r>
              <a:rPr lang="de-DE" sz="1600" dirty="0" smtClean="0"/>
              <a:t> </a:t>
            </a:r>
            <a:r>
              <a:rPr lang="de-DE" sz="1600" dirty="0" err="1" smtClean="0"/>
              <a:t>your</a:t>
            </a:r>
            <a:r>
              <a:rPr lang="de-DE" sz="1600" dirty="0" smtClean="0"/>
              <a:t> </a:t>
            </a:r>
            <a:r>
              <a:rPr lang="de-DE" sz="1600" dirty="0" err="1" smtClean="0"/>
              <a:t>fellow</a:t>
            </a:r>
            <a:r>
              <a:rPr lang="de-DE" sz="1600" dirty="0" smtClean="0"/>
              <a:t> </a:t>
            </a:r>
            <a:r>
              <a:rPr lang="de-DE" sz="1600" dirty="0" err="1" smtClean="0"/>
              <a:t>students</a:t>
            </a:r>
            <a:r>
              <a:rPr lang="de-DE" sz="1600" dirty="0" smtClean="0"/>
              <a:t>. </a:t>
            </a:r>
            <a:endParaRPr lang="de-DE" sz="1600" dirty="0"/>
          </a:p>
        </p:txBody>
      </p:sp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26247963"/>
              </p:ext>
            </p:extLst>
          </p:nvPr>
        </p:nvGraphicFramePr>
        <p:xfrm>
          <a:off x="107504" y="2492896"/>
          <a:ext cx="8710198" cy="3780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92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04570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056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42314">
                <a:tc>
                  <a:txBody>
                    <a:bodyPr/>
                    <a:lstStyle/>
                    <a:p>
                      <a:pPr algn="ctr"/>
                      <a:r>
                        <a:rPr lang="de-DE" sz="1300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dirty="0">
                          <a:solidFill>
                            <a:schemeClr val="tx1"/>
                          </a:solidFill>
                        </a:rPr>
                        <a:t>Topic</a:t>
                      </a: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300" dirty="0">
                          <a:solidFill>
                            <a:schemeClr val="tx1"/>
                          </a:solidFill>
                        </a:rPr>
                        <a:t>Speaker</a:t>
                      </a: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26818">
                <a:tc>
                  <a:txBody>
                    <a:bodyPr/>
                    <a:lstStyle/>
                    <a:p>
                      <a:pPr marL="0" marR="0" indent="0" algn="ctr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err="1" smtClean="0"/>
                        <a:t>Eisenbeiß</a:t>
                      </a:r>
                      <a:r>
                        <a:rPr lang="en-US" sz="1300" dirty="0" smtClean="0"/>
                        <a:t>, S. A., &amp; </a:t>
                      </a:r>
                      <a:r>
                        <a:rPr lang="en-US" sz="1300" dirty="0" err="1" smtClean="0"/>
                        <a:t>Brodbeck</a:t>
                      </a:r>
                      <a:r>
                        <a:rPr lang="en-US" sz="1300" dirty="0" smtClean="0"/>
                        <a:t>, F. (201</a:t>
                      </a:r>
                      <a:r>
                        <a:rPr lang="en-US" sz="1300" b="0" dirty="0" smtClean="0"/>
                        <a:t>4). </a:t>
                      </a:r>
                      <a:r>
                        <a:rPr lang="en-US" sz="1300" b="1" dirty="0" smtClean="0"/>
                        <a:t>Ethical and unethical leadership</a:t>
                      </a:r>
                      <a:r>
                        <a:rPr lang="en-US" sz="1300" dirty="0" smtClean="0"/>
                        <a:t>: A cross-cultural and cross-sectoral analysis. </a:t>
                      </a:r>
                      <a:r>
                        <a:rPr lang="en-US" sz="1300" i="1" dirty="0" smtClean="0"/>
                        <a:t>Journal of Business Ethics</a:t>
                      </a:r>
                      <a:r>
                        <a:rPr lang="en-US" sz="1300" dirty="0" smtClean="0"/>
                        <a:t>, </a:t>
                      </a:r>
                      <a:r>
                        <a:rPr lang="en-US" sz="1300" i="1" dirty="0" smtClean="0"/>
                        <a:t>122</a:t>
                      </a:r>
                      <a:r>
                        <a:rPr lang="en-US" sz="1300" dirty="0" smtClean="0"/>
                        <a:t>(2), 343–359. 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</a:rPr>
                        <a:t>DOI 10.1007/s10551-013-1740-0</a:t>
                      </a: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23766">
                <a:tc>
                  <a:txBody>
                    <a:bodyPr/>
                    <a:lstStyle/>
                    <a:p>
                      <a:pPr marL="0" marR="0" indent="0" algn="ctr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err="1" smtClean="0">
                          <a:solidFill>
                            <a:schemeClr val="tx1"/>
                          </a:solidFill>
                        </a:rPr>
                        <a:t>Brodbeck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</a:rPr>
                        <a:t>, F. C., </a:t>
                      </a:r>
                      <a:r>
                        <a:rPr lang="en-US" sz="1300" baseline="0" dirty="0" err="1" smtClean="0">
                          <a:solidFill>
                            <a:schemeClr val="tx1"/>
                          </a:solidFill>
                        </a:rPr>
                        <a:t>Frese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</a:rPr>
                        <a:t>, M., &amp; </a:t>
                      </a:r>
                      <a:r>
                        <a:rPr lang="en-US" sz="1300" baseline="0" dirty="0" err="1" smtClean="0">
                          <a:solidFill>
                            <a:schemeClr val="tx1"/>
                          </a:solidFill>
                        </a:rPr>
                        <a:t>Javidan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</a:rPr>
                        <a:t>, M. (2002). Leadership made in </a:t>
                      </a:r>
                      <a:r>
                        <a:rPr lang="en-US" sz="1300" b="1" baseline="0" dirty="0" smtClean="0">
                          <a:solidFill>
                            <a:schemeClr val="tx1"/>
                          </a:solidFill>
                        </a:rPr>
                        <a:t>Germany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</a:rPr>
                        <a:t>: Low on compassion, high on performance. </a:t>
                      </a:r>
                      <a:r>
                        <a:rPr lang="en-US" sz="1300" i="1" baseline="0" dirty="0" smtClean="0">
                          <a:solidFill>
                            <a:schemeClr val="tx1"/>
                          </a:solidFill>
                        </a:rPr>
                        <a:t>Academy of Management Executive, 16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</a:rPr>
                        <a:t>(1), 16-30. </a:t>
                      </a:r>
                      <a:r>
                        <a:rPr lang="de-DE" sz="13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https://doi.org/10.5465/ame.2002.6640111</a:t>
                      </a:r>
                      <a:endParaRPr lang="en-US" sz="13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23766">
                <a:tc>
                  <a:txBody>
                    <a:bodyPr/>
                    <a:lstStyle/>
                    <a:p>
                      <a:pPr marL="0" marR="0" indent="0" algn="ctr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 err="1" smtClean="0">
                          <a:solidFill>
                            <a:srgbClr val="FF0000"/>
                          </a:solidFill>
                        </a:rPr>
                        <a:t>Littrell</a:t>
                      </a:r>
                      <a:r>
                        <a:rPr lang="en-US" sz="1300" b="0" dirty="0" smtClean="0">
                          <a:solidFill>
                            <a:srgbClr val="FF0000"/>
                          </a:solidFill>
                        </a:rPr>
                        <a:t>, R. F., &amp; Valentin, L. N. (2005). Preferred leadership </a:t>
                      </a:r>
                      <a:r>
                        <a:rPr lang="en-US" sz="1300" b="0" dirty="0" err="1" smtClean="0">
                          <a:solidFill>
                            <a:srgbClr val="FF0000"/>
                          </a:solidFill>
                        </a:rPr>
                        <a:t>behaviours</a:t>
                      </a:r>
                      <a:r>
                        <a:rPr lang="en-US" sz="1300" b="0" dirty="0" smtClean="0">
                          <a:solidFill>
                            <a:srgbClr val="FF0000"/>
                          </a:solidFill>
                        </a:rPr>
                        <a:t>: Exploratory results from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</a:rPr>
                        <a:t>Romania, Germany, and the UK</a:t>
                      </a:r>
                      <a:r>
                        <a:rPr lang="en-US" sz="1300" b="0" dirty="0" smtClean="0">
                          <a:solidFill>
                            <a:srgbClr val="FF0000"/>
                          </a:solidFill>
                        </a:rPr>
                        <a:t>. </a:t>
                      </a:r>
                      <a:r>
                        <a:rPr lang="en-US" sz="1300" b="0" i="1" dirty="0" smtClean="0">
                          <a:solidFill>
                            <a:srgbClr val="FF0000"/>
                          </a:solidFill>
                        </a:rPr>
                        <a:t>Journal of Management Development, 24</a:t>
                      </a:r>
                      <a:r>
                        <a:rPr lang="en-US" sz="1300" b="0" dirty="0" smtClean="0">
                          <a:solidFill>
                            <a:srgbClr val="FF0000"/>
                          </a:solidFill>
                        </a:rPr>
                        <a:t>(5), 421–442. DOI: 10.1108/02621710510598445</a:t>
                      </a:r>
                      <a:endParaRPr lang="de-DE" sz="1300" b="0" dirty="0">
                        <a:solidFill>
                          <a:srgbClr val="FF0000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23766">
                <a:tc>
                  <a:txBody>
                    <a:bodyPr/>
                    <a:lstStyle/>
                    <a:p>
                      <a:pPr marL="0" marR="0" indent="0" algn="ctr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err="1" smtClean="0">
                          <a:solidFill>
                            <a:srgbClr val="FF0000"/>
                          </a:solidFill>
                        </a:rPr>
                        <a:t>Javidan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</a:rPr>
                        <a:t>, M., </a:t>
                      </a:r>
                      <a:r>
                        <a:rPr lang="en-US" sz="1300" dirty="0" err="1" smtClean="0">
                          <a:solidFill>
                            <a:srgbClr val="FF0000"/>
                          </a:solidFill>
                        </a:rPr>
                        <a:t>Dorfman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</a:rPr>
                        <a:t>, P. W., de </a:t>
                      </a:r>
                      <a:r>
                        <a:rPr lang="en-US" sz="1300" dirty="0" err="1" smtClean="0">
                          <a:solidFill>
                            <a:srgbClr val="FF0000"/>
                          </a:solidFill>
                        </a:rPr>
                        <a:t>Luque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</a:rPr>
                        <a:t>, M. S., &amp; House, R. J. (2006). In the Eye of the Beholder: Cross Cultural Lessons in Leadership from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</a:rPr>
                        <a:t>Project GLOBE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</a:rPr>
                        <a:t>. The Academy of Management Perspectives, 20(1), 67–90. https://doi-org.emedien.ub.uni-muenchen.de/10.5465/AMP.2006.19873410</a:t>
                      </a: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26818">
                <a:tc>
                  <a:txBody>
                    <a:bodyPr/>
                    <a:lstStyle/>
                    <a:p>
                      <a:pPr marL="0" marR="0" indent="0" algn="ctr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b="0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 smtClean="0">
                          <a:solidFill>
                            <a:srgbClr val="FF0000"/>
                          </a:solidFill>
                        </a:rPr>
                        <a:t>Wang, Z., &amp; </a:t>
                      </a:r>
                      <a:r>
                        <a:rPr lang="en-US" sz="1300" b="0" dirty="0" err="1" smtClean="0">
                          <a:solidFill>
                            <a:srgbClr val="FF0000"/>
                          </a:solidFill>
                        </a:rPr>
                        <a:t>Gagné</a:t>
                      </a:r>
                      <a:r>
                        <a:rPr lang="en-US" sz="1300" b="0" dirty="0" smtClean="0">
                          <a:solidFill>
                            <a:srgbClr val="FF0000"/>
                          </a:solidFill>
                        </a:rPr>
                        <a:t>, M. (2013). A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</a:rPr>
                        <a:t>Chinese–Canadian Cross-Cultural Investigation </a:t>
                      </a:r>
                      <a:r>
                        <a:rPr lang="en-US" sz="1300" b="0" dirty="0" smtClean="0">
                          <a:solidFill>
                            <a:srgbClr val="FF0000"/>
                          </a:solidFill>
                        </a:rPr>
                        <a:t>of Transformational Leadership, Autonomous Motivation, and Collectivistic Value. Journal of Leadership &amp; Organizational Studies, 20(1), 134–142. https://doi.org/10.1177/1548051812465895</a:t>
                      </a:r>
                      <a:endParaRPr lang="de-DE" sz="1300" b="0" dirty="0" smtClean="0">
                        <a:solidFill>
                          <a:srgbClr val="FF0000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xmlns="" id="{E1EBD993-8F64-4800-9D11-056A8CE7E36E}"/>
              </a:ext>
            </a:extLst>
          </p:cNvPr>
          <p:cNvSpPr/>
          <p:nvPr/>
        </p:nvSpPr>
        <p:spPr>
          <a:xfrm rot="558159">
            <a:off x="6435259" y="640381"/>
            <a:ext cx="2505041" cy="78752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66154" tIns="166154" rIns="166154" bIns="16615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1662" b="1" dirty="0" err="1" smtClean="0">
                <a:solidFill>
                  <a:schemeClr val="tx1"/>
                </a:solidFill>
              </a:rPr>
              <a:t>suggestions</a:t>
            </a:r>
            <a:r>
              <a:rPr lang="de-DE" sz="1662" b="1" dirty="0" smtClean="0">
                <a:solidFill>
                  <a:schemeClr val="tx1"/>
                </a:solidFill>
              </a:rPr>
              <a:t>, </a:t>
            </a:r>
            <a:r>
              <a:rPr lang="de-DE" sz="1662" b="1" dirty="0" err="1">
                <a:solidFill>
                  <a:schemeClr val="tx1"/>
                </a:solidFill>
              </a:rPr>
              <a:t>campus</a:t>
            </a:r>
            <a:r>
              <a:rPr lang="de-DE" sz="1662" b="1" dirty="0">
                <a:solidFill>
                  <a:schemeClr val="tx1"/>
                </a:solidFill>
              </a:rPr>
              <a:t> </a:t>
            </a:r>
            <a:r>
              <a:rPr lang="de-DE" sz="1662" b="1" dirty="0" err="1">
                <a:solidFill>
                  <a:schemeClr val="tx1"/>
                </a:solidFill>
              </a:rPr>
              <a:t>Munich</a:t>
            </a:r>
            <a:r>
              <a:rPr lang="de-DE" sz="1662" b="1" dirty="0">
                <a:solidFill>
                  <a:schemeClr val="tx1"/>
                </a:solidFill>
              </a:rPr>
              <a:t> </a:t>
            </a:r>
            <a:r>
              <a:rPr lang="de-DE" sz="1662" b="1" dirty="0" smtClean="0">
                <a:solidFill>
                  <a:schemeClr val="tx1"/>
                </a:solidFill>
              </a:rPr>
              <a:t>winter19</a:t>
            </a:r>
            <a:endParaRPr lang="de-DE" sz="1662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14541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Oral </a:t>
            </a:r>
            <a:r>
              <a:rPr lang="de-DE" dirty="0" err="1"/>
              <a:t>presentation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smtClean="0"/>
              <a:t>Scientific </a:t>
            </a:r>
            <a:r>
              <a:rPr lang="de-DE" dirty="0" err="1" smtClean="0"/>
              <a:t>paper</a:t>
            </a:r>
            <a:r>
              <a:rPr lang="de-DE" dirty="0" smtClean="0"/>
              <a:t> </a:t>
            </a:r>
            <a:endParaRPr lang="de-DE" dirty="0"/>
          </a:p>
          <a:p>
            <a:endParaRPr lang="en-US" sz="200" b="0" dirty="0" smtClean="0"/>
          </a:p>
          <a:p>
            <a:pPr lvl="0"/>
            <a:r>
              <a:rPr lang="de-DE" sz="1600" dirty="0" err="1">
                <a:solidFill>
                  <a:srgbClr val="000000"/>
                </a:solidFill>
              </a:rPr>
              <a:t>Please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briefly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present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the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study</a:t>
            </a:r>
            <a:r>
              <a:rPr lang="de-DE" sz="1600" dirty="0">
                <a:solidFill>
                  <a:srgbClr val="000000"/>
                </a:solidFill>
              </a:rPr>
              <a:t> design </a:t>
            </a:r>
            <a:r>
              <a:rPr lang="de-DE" sz="1600" dirty="0" err="1">
                <a:solidFill>
                  <a:srgbClr val="000000"/>
                </a:solidFill>
              </a:rPr>
              <a:t>and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the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core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results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of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one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of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the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following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scientific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papers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with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respect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to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practical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implications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for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cross-cultural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communication</a:t>
            </a:r>
            <a:r>
              <a:rPr lang="de-DE" sz="1600" dirty="0">
                <a:solidFill>
                  <a:srgbClr val="000000"/>
                </a:solidFill>
              </a:rPr>
              <a:t>/ </a:t>
            </a:r>
            <a:r>
              <a:rPr lang="de-DE" sz="1600" dirty="0" err="1">
                <a:solidFill>
                  <a:srgbClr val="000000"/>
                </a:solidFill>
              </a:rPr>
              <a:t>leadership</a:t>
            </a:r>
            <a:r>
              <a:rPr lang="de-DE" sz="1600" dirty="0">
                <a:solidFill>
                  <a:srgbClr val="000000"/>
                </a:solidFill>
              </a:rPr>
              <a:t>. Keep </a:t>
            </a:r>
            <a:r>
              <a:rPr lang="de-DE" sz="1600" dirty="0" err="1">
                <a:solidFill>
                  <a:srgbClr val="000000"/>
                </a:solidFill>
              </a:rPr>
              <a:t>your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messages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to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the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point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within</a:t>
            </a:r>
            <a:r>
              <a:rPr lang="de-DE" sz="1600" dirty="0">
                <a:solidFill>
                  <a:srgbClr val="000000"/>
                </a:solidFill>
              </a:rPr>
              <a:t> 15 </a:t>
            </a:r>
            <a:r>
              <a:rPr lang="de-DE" sz="1600" dirty="0" err="1">
                <a:solidFill>
                  <a:srgbClr val="000000"/>
                </a:solidFill>
              </a:rPr>
              <a:t>minutes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speaking</a:t>
            </a:r>
            <a:r>
              <a:rPr lang="de-DE" sz="1600" dirty="0">
                <a:solidFill>
                  <a:srgbClr val="000000"/>
                </a:solidFill>
              </a:rPr>
              <a:t> time. </a:t>
            </a:r>
            <a:r>
              <a:rPr lang="de-DE" sz="1600" dirty="0" err="1">
                <a:solidFill>
                  <a:srgbClr val="000000"/>
                </a:solidFill>
              </a:rPr>
              <a:t>Reflect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and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discuss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your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insights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with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your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fellow</a:t>
            </a:r>
            <a:r>
              <a:rPr lang="de-DE" sz="1600" dirty="0">
                <a:solidFill>
                  <a:srgbClr val="000000"/>
                </a:solidFill>
              </a:rPr>
              <a:t> </a:t>
            </a:r>
            <a:r>
              <a:rPr lang="de-DE" sz="1600" dirty="0" err="1">
                <a:solidFill>
                  <a:srgbClr val="000000"/>
                </a:solidFill>
              </a:rPr>
              <a:t>students</a:t>
            </a:r>
            <a:r>
              <a:rPr lang="de-DE" sz="1600" dirty="0">
                <a:solidFill>
                  <a:srgbClr val="000000"/>
                </a:solidFill>
              </a:rPr>
              <a:t>. </a:t>
            </a:r>
          </a:p>
          <a:p>
            <a:endParaRPr lang="de-DE" sz="200" b="0" dirty="0" smtClean="0"/>
          </a:p>
        </p:txBody>
      </p:sp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02577305"/>
              </p:ext>
            </p:extLst>
          </p:nvPr>
        </p:nvGraphicFramePr>
        <p:xfrm>
          <a:off x="107504" y="2492896"/>
          <a:ext cx="8710198" cy="3251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92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04570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056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42314">
                <a:tc>
                  <a:txBody>
                    <a:bodyPr/>
                    <a:lstStyle/>
                    <a:p>
                      <a:pPr algn="ctr"/>
                      <a:r>
                        <a:rPr lang="de-DE" sz="1300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dirty="0">
                          <a:solidFill>
                            <a:schemeClr val="tx1"/>
                          </a:solidFill>
                        </a:rPr>
                        <a:t>Topic</a:t>
                      </a: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300" dirty="0">
                          <a:solidFill>
                            <a:schemeClr val="tx1"/>
                          </a:solidFill>
                        </a:rPr>
                        <a:t>Speaker</a:t>
                      </a: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26818">
                <a:tc>
                  <a:txBody>
                    <a:bodyPr/>
                    <a:lstStyle/>
                    <a:p>
                      <a:pPr marL="0" marR="0" indent="0" algn="ctr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smtClean="0">
                          <a:solidFill>
                            <a:srgbClr val="FF0000"/>
                          </a:solidFill>
                        </a:rPr>
                        <a:t>Mittal, R., &amp; Elias, S. M. (2016).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</a:rPr>
                        <a:t>Social power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</a:rPr>
                        <a:t>and leadership in cross-cultural context. </a:t>
                      </a:r>
                      <a:r>
                        <a:rPr lang="en-US" sz="1300" i="1" dirty="0" smtClean="0">
                          <a:solidFill>
                            <a:srgbClr val="FF0000"/>
                          </a:solidFill>
                        </a:rPr>
                        <a:t>Journal of Management Development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en-US" sz="1300" i="1" dirty="0" smtClean="0">
                          <a:solidFill>
                            <a:srgbClr val="FF0000"/>
                          </a:solidFill>
                        </a:rPr>
                        <a:t>35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</a:rPr>
                        <a:t>(1), 58–74. https://doi-org.emedien.ub.uni-muenchen.de/10.1108/JMD-02-2014-0020</a:t>
                      </a:r>
                      <a:endParaRPr lang="de-DE" sz="1300" dirty="0">
                        <a:solidFill>
                          <a:srgbClr val="FF0000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23766">
                <a:tc>
                  <a:txBody>
                    <a:bodyPr/>
                    <a:lstStyle/>
                    <a:p>
                      <a:pPr marL="0" marR="0" indent="0" algn="ctr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 smtClean="0">
                          <a:solidFill>
                            <a:srgbClr val="FF0000"/>
                          </a:solidFill>
                        </a:rPr>
                        <a:t>Lehmann-</a:t>
                      </a:r>
                      <a:r>
                        <a:rPr lang="en-US" sz="1300" b="0" dirty="0" err="1" smtClean="0">
                          <a:solidFill>
                            <a:srgbClr val="FF0000"/>
                          </a:solidFill>
                        </a:rPr>
                        <a:t>Willenbrock</a:t>
                      </a:r>
                      <a:r>
                        <a:rPr lang="en-US" sz="1300" b="0" dirty="0" smtClean="0">
                          <a:solidFill>
                            <a:srgbClr val="FF0000"/>
                          </a:solidFill>
                        </a:rPr>
                        <a:t>, N., Allen, J. A., &amp; </a:t>
                      </a:r>
                      <a:r>
                        <a:rPr lang="en-US" sz="1300" b="0" dirty="0" err="1" smtClean="0">
                          <a:solidFill>
                            <a:srgbClr val="FF0000"/>
                          </a:solidFill>
                        </a:rPr>
                        <a:t>Meinecke</a:t>
                      </a:r>
                      <a:r>
                        <a:rPr lang="en-US" sz="1300" b="0" dirty="0" smtClean="0">
                          <a:solidFill>
                            <a:srgbClr val="FF0000"/>
                          </a:solidFill>
                        </a:rPr>
                        <a:t>, A. L. (2014). Observing culture: Differences in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</a:rPr>
                        <a:t>U.S.-American and German team meeting behaviors</a:t>
                      </a:r>
                      <a:r>
                        <a:rPr lang="en-US" sz="1300" b="0" dirty="0" smtClean="0">
                          <a:solidFill>
                            <a:srgbClr val="FF0000"/>
                          </a:solidFill>
                        </a:rPr>
                        <a:t>. Group Processes &amp; Intergroup Relations, 17(2), 252–271. https://doi.org/10.1177/1368430213497066 </a:t>
                      </a:r>
                      <a:endParaRPr lang="de-DE" sz="1300" b="0" dirty="0" smtClean="0">
                        <a:solidFill>
                          <a:srgbClr val="FF0000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23766">
                <a:tc>
                  <a:txBody>
                    <a:bodyPr/>
                    <a:lstStyle/>
                    <a:p>
                      <a:pPr marL="0" marR="0" indent="0" algn="ctr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300" dirty="0" err="1" smtClean="0">
                          <a:solidFill>
                            <a:srgbClr val="FF0000"/>
                          </a:solidFill>
                        </a:rPr>
                        <a:t>Molinsky</a:t>
                      </a:r>
                      <a:r>
                        <a:rPr lang="de-DE" sz="1300" dirty="0" smtClean="0">
                          <a:solidFill>
                            <a:srgbClr val="FF0000"/>
                          </a:solidFill>
                        </a:rPr>
                        <a:t>, A. L., </a:t>
                      </a:r>
                      <a:r>
                        <a:rPr lang="de-DE" sz="1300" dirty="0" err="1" smtClean="0">
                          <a:solidFill>
                            <a:srgbClr val="FF0000"/>
                          </a:solidFill>
                        </a:rPr>
                        <a:t>Krabbenhoft</a:t>
                      </a:r>
                      <a:r>
                        <a:rPr lang="de-DE" sz="1300" dirty="0" smtClean="0">
                          <a:solidFill>
                            <a:srgbClr val="FF0000"/>
                          </a:solidFill>
                        </a:rPr>
                        <a:t>, M. A., </a:t>
                      </a:r>
                      <a:r>
                        <a:rPr lang="de-DE" sz="1300" dirty="0" err="1" smtClean="0">
                          <a:solidFill>
                            <a:srgbClr val="FF0000"/>
                          </a:solidFill>
                        </a:rPr>
                        <a:t>Ambady</a:t>
                      </a:r>
                      <a:r>
                        <a:rPr lang="de-DE" sz="1300" dirty="0" smtClean="0">
                          <a:solidFill>
                            <a:srgbClr val="FF0000"/>
                          </a:solidFill>
                        </a:rPr>
                        <a:t>, N., &amp; Susan Choi, Y. (2005). </a:t>
                      </a:r>
                      <a:r>
                        <a:rPr lang="de-DE" sz="1300" dirty="0" err="1" smtClean="0">
                          <a:solidFill>
                            <a:srgbClr val="FF0000"/>
                          </a:solidFill>
                        </a:rPr>
                        <a:t>Cracking</a:t>
                      </a:r>
                      <a:r>
                        <a:rPr lang="de-DE" sz="13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e-DE" sz="1300" dirty="0" err="1" smtClean="0">
                          <a:solidFill>
                            <a:srgbClr val="FF0000"/>
                          </a:solidFill>
                        </a:rPr>
                        <a:t>the</a:t>
                      </a:r>
                      <a:r>
                        <a:rPr lang="de-DE" sz="13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e-DE" sz="1300" b="1" dirty="0" smtClean="0">
                          <a:solidFill>
                            <a:srgbClr val="FF0000"/>
                          </a:solidFill>
                        </a:rPr>
                        <a:t>Nonverbal Code</a:t>
                      </a:r>
                      <a:r>
                        <a:rPr lang="de-DE" sz="1300" dirty="0" smtClean="0">
                          <a:solidFill>
                            <a:srgbClr val="FF0000"/>
                          </a:solidFill>
                        </a:rPr>
                        <a:t>: </a:t>
                      </a:r>
                      <a:r>
                        <a:rPr lang="de-DE" sz="1300" dirty="0" err="1" smtClean="0">
                          <a:solidFill>
                            <a:srgbClr val="FF0000"/>
                          </a:solidFill>
                        </a:rPr>
                        <a:t>Intercultural</a:t>
                      </a:r>
                      <a:r>
                        <a:rPr lang="de-DE" sz="1300" dirty="0" smtClean="0">
                          <a:solidFill>
                            <a:srgbClr val="FF0000"/>
                          </a:solidFill>
                        </a:rPr>
                        <a:t> Competence </a:t>
                      </a:r>
                      <a:r>
                        <a:rPr lang="de-DE" sz="1300" dirty="0" err="1" smtClean="0">
                          <a:solidFill>
                            <a:srgbClr val="FF0000"/>
                          </a:solidFill>
                        </a:rPr>
                        <a:t>and</a:t>
                      </a:r>
                      <a:r>
                        <a:rPr lang="de-DE" sz="13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e-DE" sz="1300" dirty="0" err="1" smtClean="0">
                          <a:solidFill>
                            <a:srgbClr val="FF0000"/>
                          </a:solidFill>
                        </a:rPr>
                        <a:t>Gesture</a:t>
                      </a:r>
                      <a:r>
                        <a:rPr lang="de-DE" sz="1300" dirty="0" smtClean="0">
                          <a:solidFill>
                            <a:srgbClr val="FF0000"/>
                          </a:solidFill>
                        </a:rPr>
                        <a:t> Recognition </a:t>
                      </a:r>
                      <a:r>
                        <a:rPr lang="de-DE" sz="1300" dirty="0" err="1" smtClean="0">
                          <a:solidFill>
                            <a:srgbClr val="FF0000"/>
                          </a:solidFill>
                        </a:rPr>
                        <a:t>Across</a:t>
                      </a:r>
                      <a:r>
                        <a:rPr lang="de-DE" sz="13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e-DE" sz="1300" dirty="0" err="1" smtClean="0">
                          <a:solidFill>
                            <a:srgbClr val="FF0000"/>
                          </a:solidFill>
                        </a:rPr>
                        <a:t>Cultures</a:t>
                      </a:r>
                      <a:r>
                        <a:rPr lang="de-DE" sz="1300" dirty="0" smtClean="0">
                          <a:solidFill>
                            <a:srgbClr val="FF0000"/>
                          </a:solidFill>
                        </a:rPr>
                        <a:t>. </a:t>
                      </a:r>
                      <a:r>
                        <a:rPr lang="de-DE" sz="1300" i="1" dirty="0" smtClean="0">
                          <a:solidFill>
                            <a:srgbClr val="FF0000"/>
                          </a:solidFill>
                        </a:rPr>
                        <a:t>Journal </a:t>
                      </a:r>
                      <a:r>
                        <a:rPr lang="de-DE" sz="1300" i="1" dirty="0" err="1" smtClean="0">
                          <a:solidFill>
                            <a:srgbClr val="FF0000"/>
                          </a:solidFill>
                        </a:rPr>
                        <a:t>of</a:t>
                      </a:r>
                      <a:r>
                        <a:rPr lang="de-DE" sz="1300" i="1" dirty="0" smtClean="0">
                          <a:solidFill>
                            <a:srgbClr val="FF0000"/>
                          </a:solidFill>
                        </a:rPr>
                        <a:t> Cross-Cultural </a:t>
                      </a:r>
                      <a:r>
                        <a:rPr lang="de-DE" sz="1300" i="1" dirty="0" err="1" smtClean="0">
                          <a:solidFill>
                            <a:srgbClr val="FF0000"/>
                          </a:solidFill>
                        </a:rPr>
                        <a:t>Psychology</a:t>
                      </a:r>
                      <a:r>
                        <a:rPr lang="de-DE" sz="1300" dirty="0" smtClean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de-DE" sz="1300" i="1" dirty="0" smtClean="0">
                          <a:solidFill>
                            <a:srgbClr val="FF0000"/>
                          </a:solidFill>
                        </a:rPr>
                        <a:t>36</a:t>
                      </a:r>
                      <a:r>
                        <a:rPr lang="de-DE" sz="1300" dirty="0" smtClean="0">
                          <a:solidFill>
                            <a:srgbClr val="FF0000"/>
                          </a:solidFill>
                        </a:rPr>
                        <a:t>(3), 380–395. https://doi.org/10.1177/0022022104273658</a:t>
                      </a:r>
                      <a:endParaRPr lang="en-US" sz="1300" dirty="0" smtClean="0">
                        <a:solidFill>
                          <a:srgbClr val="FF0000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23766">
                <a:tc>
                  <a:txBody>
                    <a:bodyPr/>
                    <a:lstStyle/>
                    <a:p>
                      <a:pPr marL="0" marR="0" indent="0" algn="ctr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smtClean="0"/>
                        <a:t>Park, J., </a:t>
                      </a:r>
                      <a:r>
                        <a:rPr lang="en-US" sz="1300" dirty="0" err="1" smtClean="0"/>
                        <a:t>Baek</a:t>
                      </a:r>
                      <a:r>
                        <a:rPr lang="en-US" sz="1300" dirty="0" smtClean="0"/>
                        <a:t>, Y. M., &amp; Cha, M. (2014). Cross‐cultural comparison of </a:t>
                      </a:r>
                      <a:r>
                        <a:rPr lang="en-US" sz="1300" b="1" dirty="0" smtClean="0"/>
                        <a:t>nonverbal cues in emoticons on Twitter</a:t>
                      </a:r>
                      <a:r>
                        <a:rPr lang="en-US" sz="1300" dirty="0" smtClean="0"/>
                        <a:t>: Evidence from big data analysis. </a:t>
                      </a:r>
                      <a:r>
                        <a:rPr lang="en-US" sz="1300" i="1" dirty="0" smtClean="0"/>
                        <a:t>Journal of Communication</a:t>
                      </a:r>
                      <a:r>
                        <a:rPr lang="en-US" sz="1300" dirty="0" smtClean="0"/>
                        <a:t>, </a:t>
                      </a:r>
                      <a:r>
                        <a:rPr lang="en-US" sz="1300" i="1" dirty="0" smtClean="0"/>
                        <a:t>64</a:t>
                      </a:r>
                      <a:r>
                        <a:rPr lang="en-US" sz="1300" dirty="0" smtClean="0"/>
                        <a:t>(2), 333–354. https://doi-org.emedien.ub.uni-muenchen.de/10.1111/jcom.12086</a:t>
                      </a:r>
                      <a:endParaRPr lang="de-DE" sz="1300" dirty="0" smtClean="0"/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xmlns="" id="{E1EBD993-8F64-4800-9D11-056A8CE7E36E}"/>
              </a:ext>
            </a:extLst>
          </p:cNvPr>
          <p:cNvSpPr/>
          <p:nvPr/>
        </p:nvSpPr>
        <p:spPr>
          <a:xfrm rot="558159">
            <a:off x="6435259" y="640381"/>
            <a:ext cx="2505041" cy="78752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66154" tIns="166154" rIns="166154" bIns="16615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1662" b="1" dirty="0" err="1" smtClean="0">
                <a:solidFill>
                  <a:schemeClr val="tx1"/>
                </a:solidFill>
              </a:rPr>
              <a:t>suggestions</a:t>
            </a:r>
            <a:r>
              <a:rPr lang="de-DE" sz="1662" b="1" dirty="0" smtClean="0">
                <a:solidFill>
                  <a:schemeClr val="tx1"/>
                </a:solidFill>
              </a:rPr>
              <a:t>, </a:t>
            </a:r>
            <a:r>
              <a:rPr lang="de-DE" sz="1662" b="1" dirty="0" err="1">
                <a:solidFill>
                  <a:schemeClr val="tx1"/>
                </a:solidFill>
              </a:rPr>
              <a:t>campus</a:t>
            </a:r>
            <a:r>
              <a:rPr lang="de-DE" sz="1662" b="1" dirty="0">
                <a:solidFill>
                  <a:schemeClr val="tx1"/>
                </a:solidFill>
              </a:rPr>
              <a:t> </a:t>
            </a:r>
            <a:r>
              <a:rPr lang="de-DE" sz="1662" b="1" dirty="0" err="1">
                <a:solidFill>
                  <a:schemeClr val="tx1"/>
                </a:solidFill>
              </a:rPr>
              <a:t>Munich</a:t>
            </a:r>
            <a:r>
              <a:rPr lang="de-DE" sz="1662" b="1" dirty="0">
                <a:solidFill>
                  <a:schemeClr val="tx1"/>
                </a:solidFill>
              </a:rPr>
              <a:t> </a:t>
            </a:r>
            <a:r>
              <a:rPr lang="de-DE" sz="1662" b="1" dirty="0" smtClean="0">
                <a:solidFill>
                  <a:schemeClr val="tx1"/>
                </a:solidFill>
              </a:rPr>
              <a:t>winter19</a:t>
            </a:r>
            <a:endParaRPr lang="de-DE" sz="1662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46177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Oral </a:t>
            </a:r>
            <a:r>
              <a:rPr lang="de-DE" dirty="0" err="1"/>
              <a:t>presentation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err="1" smtClean="0"/>
              <a:t>Intercultural</a:t>
            </a:r>
            <a:r>
              <a:rPr lang="de-DE" dirty="0" smtClean="0"/>
              <a:t> </a:t>
            </a:r>
            <a:r>
              <a:rPr lang="de-DE" dirty="0" err="1" smtClean="0"/>
              <a:t>preparations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managers</a:t>
            </a:r>
            <a:endParaRPr lang="de-DE" dirty="0"/>
          </a:p>
          <a:p>
            <a:endParaRPr lang="de-DE" sz="200" b="0" dirty="0" smtClean="0"/>
          </a:p>
          <a:p>
            <a:r>
              <a:rPr lang="de-DE" sz="1600" dirty="0" err="1" smtClean="0"/>
              <a:t>Please</a:t>
            </a:r>
            <a:r>
              <a:rPr lang="de-DE" sz="1600" dirty="0" smtClean="0"/>
              <a:t> </a:t>
            </a:r>
            <a:r>
              <a:rPr lang="de-DE" sz="1600" dirty="0" err="1" smtClean="0"/>
              <a:t>present</a:t>
            </a:r>
            <a:r>
              <a:rPr lang="de-DE" sz="1600" dirty="0" smtClean="0"/>
              <a:t> </a:t>
            </a:r>
            <a:r>
              <a:rPr lang="de-DE" sz="1600" dirty="0" err="1" smtClean="0"/>
              <a:t>the</a:t>
            </a:r>
            <a:r>
              <a:rPr lang="de-DE" sz="1600" dirty="0" smtClean="0"/>
              <a:t> </a:t>
            </a:r>
            <a:r>
              <a:rPr lang="de-DE" sz="1600" dirty="0" err="1" smtClean="0"/>
              <a:t>core</a:t>
            </a:r>
            <a:r>
              <a:rPr lang="de-DE" sz="1600" dirty="0" smtClean="0"/>
              <a:t> </a:t>
            </a:r>
            <a:r>
              <a:rPr lang="de-DE" sz="1600" dirty="0" err="1" smtClean="0"/>
              <a:t>recommendations</a:t>
            </a:r>
            <a:r>
              <a:rPr lang="de-DE" sz="1600" dirty="0" smtClean="0"/>
              <a:t> </a:t>
            </a:r>
            <a:r>
              <a:rPr lang="de-DE" sz="1600" dirty="0" err="1" smtClean="0"/>
              <a:t>for</a:t>
            </a:r>
            <a:r>
              <a:rPr lang="de-DE" sz="1600" dirty="0" smtClean="0"/>
              <a:t> </a:t>
            </a:r>
            <a:r>
              <a:rPr lang="de-DE" sz="1600" dirty="0" err="1" smtClean="0"/>
              <a:t>cross-cultural</a:t>
            </a:r>
            <a:r>
              <a:rPr lang="de-DE" sz="1600" dirty="0" smtClean="0"/>
              <a:t> </a:t>
            </a:r>
            <a:r>
              <a:rPr lang="de-DE" sz="1600" dirty="0" err="1" smtClean="0"/>
              <a:t>managers</a:t>
            </a:r>
            <a:r>
              <a:rPr lang="de-DE" sz="1600" dirty="0" smtClean="0"/>
              <a:t> </a:t>
            </a:r>
            <a:r>
              <a:rPr lang="de-DE" sz="1600" dirty="0" err="1" smtClean="0"/>
              <a:t>based</a:t>
            </a:r>
            <a:r>
              <a:rPr lang="de-DE" sz="1600" dirty="0" smtClean="0"/>
              <a:t> on </a:t>
            </a:r>
            <a:r>
              <a:rPr lang="de-DE" sz="1600" dirty="0" err="1" smtClean="0"/>
              <a:t>one</a:t>
            </a:r>
            <a:r>
              <a:rPr lang="de-DE" sz="1600" dirty="0" smtClean="0"/>
              <a:t> </a:t>
            </a:r>
            <a:r>
              <a:rPr lang="de-DE" sz="1600" dirty="0" err="1" smtClean="0"/>
              <a:t>of</a:t>
            </a:r>
            <a:r>
              <a:rPr lang="de-DE" sz="1600" dirty="0" smtClean="0"/>
              <a:t> </a:t>
            </a:r>
            <a:r>
              <a:rPr lang="de-DE" sz="1600" dirty="0" err="1" smtClean="0"/>
              <a:t>the</a:t>
            </a:r>
            <a:r>
              <a:rPr lang="de-DE" sz="1600" dirty="0" smtClean="0"/>
              <a:t>            </a:t>
            </a:r>
            <a:r>
              <a:rPr lang="de-DE" sz="1600" dirty="0" err="1" smtClean="0"/>
              <a:t>following</a:t>
            </a:r>
            <a:r>
              <a:rPr lang="de-DE" sz="1600" dirty="0" smtClean="0"/>
              <a:t> </a:t>
            </a:r>
            <a:r>
              <a:rPr lang="de-DE" sz="1600" dirty="0" err="1" smtClean="0"/>
              <a:t>guidebooks</a:t>
            </a:r>
            <a:r>
              <a:rPr lang="de-DE" sz="1600" dirty="0" smtClean="0"/>
              <a:t>/ </a:t>
            </a:r>
            <a:r>
              <a:rPr lang="de-DE" sz="1600" dirty="0" err="1" smtClean="0"/>
              <a:t>guidearticles</a:t>
            </a:r>
            <a:r>
              <a:rPr lang="de-DE" sz="1600" dirty="0" smtClean="0"/>
              <a:t>. Keep </a:t>
            </a:r>
            <a:r>
              <a:rPr lang="de-DE" sz="1600" dirty="0" err="1" smtClean="0"/>
              <a:t>your</a:t>
            </a:r>
            <a:r>
              <a:rPr lang="de-DE" sz="1600" dirty="0" smtClean="0"/>
              <a:t> </a:t>
            </a:r>
            <a:r>
              <a:rPr lang="de-DE" sz="1600" dirty="0" err="1" smtClean="0"/>
              <a:t>messages</a:t>
            </a:r>
            <a:r>
              <a:rPr lang="de-DE" sz="1600" dirty="0" smtClean="0"/>
              <a:t> </a:t>
            </a:r>
            <a:r>
              <a:rPr lang="de-DE" sz="1600" dirty="0" err="1" smtClean="0"/>
              <a:t>to</a:t>
            </a:r>
            <a:r>
              <a:rPr lang="de-DE" sz="1600" dirty="0" smtClean="0"/>
              <a:t> </a:t>
            </a:r>
            <a:r>
              <a:rPr lang="de-DE" sz="1600" dirty="0" err="1" smtClean="0"/>
              <a:t>the</a:t>
            </a:r>
            <a:r>
              <a:rPr lang="de-DE" sz="1600" dirty="0" smtClean="0"/>
              <a:t> </a:t>
            </a:r>
            <a:r>
              <a:rPr lang="de-DE" sz="1600" dirty="0" err="1" smtClean="0"/>
              <a:t>point</a:t>
            </a:r>
            <a:r>
              <a:rPr lang="de-DE" sz="1600" dirty="0" smtClean="0"/>
              <a:t> </a:t>
            </a:r>
            <a:r>
              <a:rPr lang="de-DE" sz="1600" dirty="0" err="1" smtClean="0"/>
              <a:t>within</a:t>
            </a:r>
            <a:r>
              <a:rPr lang="de-DE" sz="1600" dirty="0" smtClean="0"/>
              <a:t> 15 </a:t>
            </a:r>
            <a:r>
              <a:rPr lang="de-DE" sz="1600" dirty="0" err="1" smtClean="0"/>
              <a:t>minutes</a:t>
            </a:r>
            <a:r>
              <a:rPr lang="de-DE" sz="1600" dirty="0" smtClean="0"/>
              <a:t> </a:t>
            </a:r>
            <a:r>
              <a:rPr lang="de-DE" sz="1600" dirty="0" err="1" smtClean="0"/>
              <a:t>speaking</a:t>
            </a:r>
            <a:r>
              <a:rPr lang="de-DE" sz="1600" dirty="0" smtClean="0"/>
              <a:t> time. </a:t>
            </a:r>
            <a:r>
              <a:rPr lang="de-DE" sz="1600" dirty="0" err="1" smtClean="0"/>
              <a:t>Reflect</a:t>
            </a:r>
            <a:r>
              <a:rPr lang="de-DE" sz="1600" dirty="0" smtClean="0"/>
              <a:t> </a:t>
            </a:r>
            <a:r>
              <a:rPr lang="de-DE" sz="1600" dirty="0" err="1" smtClean="0"/>
              <a:t>and</a:t>
            </a:r>
            <a:r>
              <a:rPr lang="de-DE" sz="1600" dirty="0" smtClean="0"/>
              <a:t> </a:t>
            </a:r>
            <a:r>
              <a:rPr lang="de-DE" sz="1600" dirty="0" err="1" smtClean="0"/>
              <a:t>discuss</a:t>
            </a:r>
            <a:r>
              <a:rPr lang="de-DE" sz="1600" dirty="0" smtClean="0"/>
              <a:t> </a:t>
            </a:r>
            <a:r>
              <a:rPr lang="de-DE" sz="1600" dirty="0" err="1" smtClean="0"/>
              <a:t>your</a:t>
            </a:r>
            <a:r>
              <a:rPr lang="de-DE" sz="1600" dirty="0" smtClean="0"/>
              <a:t> </a:t>
            </a:r>
            <a:r>
              <a:rPr lang="de-DE" sz="1600" dirty="0" err="1" smtClean="0"/>
              <a:t>insights</a:t>
            </a:r>
            <a:r>
              <a:rPr lang="de-DE" sz="1600" dirty="0" smtClean="0"/>
              <a:t> </a:t>
            </a:r>
            <a:r>
              <a:rPr lang="de-DE" sz="1600" dirty="0" err="1" smtClean="0"/>
              <a:t>with</a:t>
            </a:r>
            <a:r>
              <a:rPr lang="de-DE" sz="1600" dirty="0" smtClean="0"/>
              <a:t> </a:t>
            </a:r>
            <a:r>
              <a:rPr lang="de-DE" sz="1600" dirty="0" err="1" smtClean="0"/>
              <a:t>your</a:t>
            </a:r>
            <a:r>
              <a:rPr lang="de-DE" sz="1600" dirty="0" smtClean="0"/>
              <a:t> </a:t>
            </a:r>
            <a:r>
              <a:rPr lang="de-DE" sz="1600" dirty="0" err="1" smtClean="0"/>
              <a:t>fellow</a:t>
            </a:r>
            <a:r>
              <a:rPr lang="de-DE" sz="1600" dirty="0" smtClean="0"/>
              <a:t> </a:t>
            </a:r>
            <a:r>
              <a:rPr lang="de-DE" sz="1600" dirty="0" err="1" smtClean="0"/>
              <a:t>students</a:t>
            </a:r>
            <a:r>
              <a:rPr lang="de-DE" sz="1600" dirty="0" smtClean="0"/>
              <a:t>. </a:t>
            </a:r>
            <a:endParaRPr lang="de-DE" sz="1600" dirty="0"/>
          </a:p>
        </p:txBody>
      </p:sp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385027010"/>
              </p:ext>
            </p:extLst>
          </p:nvPr>
        </p:nvGraphicFramePr>
        <p:xfrm>
          <a:off x="179512" y="2420888"/>
          <a:ext cx="8712968" cy="373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1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89868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21934">
                <a:tc>
                  <a:txBody>
                    <a:bodyPr/>
                    <a:lstStyle/>
                    <a:p>
                      <a:pPr algn="ctr"/>
                      <a:r>
                        <a:rPr lang="de-DE" sz="1300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dirty="0">
                          <a:solidFill>
                            <a:schemeClr val="tx1"/>
                          </a:solidFill>
                        </a:rPr>
                        <a:t>Topic</a:t>
                      </a: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300" dirty="0">
                          <a:solidFill>
                            <a:schemeClr val="tx1"/>
                          </a:solidFill>
                        </a:rPr>
                        <a:t>Speaker</a:t>
                      </a: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95453">
                <a:tc>
                  <a:txBody>
                    <a:bodyPr/>
                    <a:lstStyle/>
                    <a:p>
                      <a:pPr marL="0" marR="0" indent="0" algn="ctr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 smtClean="0"/>
                        <a:t>Foellbach</a:t>
                      </a:r>
                      <a:r>
                        <a:rPr lang="de-DE" sz="1200" dirty="0" smtClean="0"/>
                        <a:t>,</a:t>
                      </a:r>
                      <a:r>
                        <a:rPr lang="de-DE" sz="1200" baseline="0" dirty="0" smtClean="0"/>
                        <a:t> S. (2002). Beruflich in </a:t>
                      </a:r>
                      <a:r>
                        <a:rPr lang="de-DE" sz="1200" b="1" baseline="0" dirty="0" smtClean="0"/>
                        <a:t>Argentinien</a:t>
                      </a:r>
                      <a:r>
                        <a:rPr lang="de-DE" sz="1200" baseline="0" dirty="0" smtClean="0"/>
                        <a:t>: Trainingsprogramm für Manager, Fach- und Führungskräfte. Göttingen: </a:t>
                      </a:r>
                      <a:r>
                        <a:rPr lang="de-DE" sz="1200" baseline="0" dirty="0" err="1" smtClean="0"/>
                        <a:t>Vandenhoeck</a:t>
                      </a:r>
                      <a:r>
                        <a:rPr lang="de-DE" sz="1200" baseline="0" dirty="0" smtClean="0"/>
                        <a:t> &amp; Ruprecht.</a:t>
                      </a:r>
                      <a:endParaRPr lang="de-DE" sz="1200" dirty="0"/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68994">
                <a:tc>
                  <a:txBody>
                    <a:bodyPr/>
                    <a:lstStyle/>
                    <a:p>
                      <a:pPr marL="0" marR="0" indent="0" algn="ctr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smtClean="0"/>
                        <a:t>Mitterer, K. </a:t>
                      </a:r>
                      <a:r>
                        <a:rPr lang="de-DE" sz="1200" baseline="0" dirty="0" smtClean="0"/>
                        <a:t>(2006). Beruflich in </a:t>
                      </a:r>
                      <a:r>
                        <a:rPr lang="de-DE" sz="1200" b="1" baseline="0" dirty="0" smtClean="0"/>
                        <a:t>Indien</a:t>
                      </a:r>
                      <a:r>
                        <a:rPr lang="de-DE" sz="1200" baseline="0" dirty="0" smtClean="0"/>
                        <a:t>: Trainingsprogramm für Manager, Fach- und Führungskräfte. Göttingen: </a:t>
                      </a:r>
                      <a:r>
                        <a:rPr lang="de-DE" sz="1200" baseline="0" dirty="0" err="1" smtClean="0"/>
                        <a:t>Vandenhoeck</a:t>
                      </a:r>
                      <a:r>
                        <a:rPr lang="de-DE" sz="1200" baseline="0" dirty="0" smtClean="0"/>
                        <a:t> &amp; Ruprecht.</a:t>
                      </a:r>
                      <a:endParaRPr lang="de-DE" sz="1200" dirty="0" smtClean="0"/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72156">
                <a:tc>
                  <a:txBody>
                    <a:bodyPr/>
                    <a:lstStyle/>
                    <a:p>
                      <a:pPr marL="0" marR="0" indent="0" algn="ctr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aseline="0" dirty="0" smtClean="0"/>
                        <a:t>Mayer, C.-H. (2004). Beruflich in </a:t>
                      </a:r>
                      <a:r>
                        <a:rPr lang="de-DE" sz="1200" b="1" baseline="0" dirty="0" smtClean="0"/>
                        <a:t>Südafrika</a:t>
                      </a:r>
                      <a:r>
                        <a:rPr lang="de-DE" sz="1200" b="0" baseline="0" dirty="0" smtClean="0"/>
                        <a:t>.</a:t>
                      </a:r>
                      <a:r>
                        <a:rPr lang="de-DE" sz="1200" baseline="0" dirty="0" smtClean="0"/>
                        <a:t> Trainingsprogramm für Manager, Fach- und Führungskräfte. Göttingen: </a:t>
                      </a:r>
                      <a:r>
                        <a:rPr lang="de-DE" sz="1200" baseline="0" dirty="0" err="1" smtClean="0"/>
                        <a:t>Vandenhoeck</a:t>
                      </a:r>
                      <a:r>
                        <a:rPr lang="de-DE" sz="1200" baseline="0" dirty="0" smtClean="0"/>
                        <a:t> &amp; Ruprecht.</a:t>
                      </a:r>
                      <a:endParaRPr lang="de-DE" sz="1200" dirty="0" smtClean="0"/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68994">
                <a:tc>
                  <a:txBody>
                    <a:bodyPr/>
                    <a:lstStyle/>
                    <a:p>
                      <a:pPr marL="0" marR="0" indent="0" algn="ctr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Thomas, A. &amp; Schenk, E. (2006). </a:t>
                      </a:r>
                      <a:r>
                        <a:rPr lang="de-DE" sz="1200" baseline="0" dirty="0" smtClean="0"/>
                        <a:t>Beruflich in </a:t>
                      </a:r>
                      <a:r>
                        <a:rPr lang="de-DE" sz="1200" b="1" baseline="0" dirty="0" smtClean="0"/>
                        <a:t>China</a:t>
                      </a:r>
                      <a:r>
                        <a:rPr lang="de-DE" sz="1200" b="0" baseline="0" dirty="0" smtClean="0"/>
                        <a:t>.</a:t>
                      </a:r>
                      <a:r>
                        <a:rPr lang="de-DE" sz="1200" baseline="0" dirty="0" smtClean="0"/>
                        <a:t> Trainingsprogramm für Manager, Fach- und Führungskräfte. Göttingen: </a:t>
                      </a:r>
                      <a:r>
                        <a:rPr lang="de-DE" sz="1200" baseline="0" dirty="0" err="1" smtClean="0"/>
                        <a:t>Vandenhoeck</a:t>
                      </a:r>
                      <a:r>
                        <a:rPr lang="de-DE" sz="1200" baseline="0" dirty="0" smtClean="0"/>
                        <a:t> &amp; Ruprecht.</a:t>
                      </a:r>
                      <a:endParaRPr lang="de-DE" sz="1200" dirty="0" smtClean="0"/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95453">
                <a:tc>
                  <a:txBody>
                    <a:bodyPr/>
                    <a:lstStyle/>
                    <a:p>
                      <a:pPr marL="0" marR="0" indent="0" algn="ctr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rgbClr val="FF0000"/>
                          </a:solidFill>
                        </a:rPr>
                        <a:t>Nixon, J. C., &amp; West, J. F. (1995). Intercultural preparation for managers going to </a:t>
                      </a:r>
                      <a:r>
                        <a:rPr lang="en-US" sz="1200" b="1" dirty="0" smtClean="0">
                          <a:solidFill>
                            <a:srgbClr val="FF0000"/>
                          </a:solidFill>
                        </a:rPr>
                        <a:t>Japan</a:t>
                      </a:r>
                      <a:r>
                        <a:rPr lang="en-US" sz="1200" dirty="0" smtClean="0">
                          <a:solidFill>
                            <a:srgbClr val="FF0000"/>
                          </a:solidFill>
                        </a:rPr>
                        <a:t>. Mid-American Journal of Business, 10, 57–64.</a:t>
                      </a: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15896">
                <a:tc>
                  <a:txBody>
                    <a:bodyPr/>
                    <a:lstStyle/>
                    <a:p>
                      <a:pPr marL="0" marR="0" indent="0" algn="ctr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Cultural differences between 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Saudi Arab</a:t>
                      </a:r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ia and the West in Business world</a:t>
                      </a: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</a:rPr>
                        <a:t> (Sources to be added)</a:t>
                      </a:r>
                      <a:endParaRPr lang="en-US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574580011"/>
                  </a:ext>
                </a:extLst>
              </a:tr>
              <a:tr h="495453">
                <a:tc>
                  <a:txBody>
                    <a:bodyPr/>
                    <a:lstStyle/>
                    <a:p>
                      <a:pPr marL="0" marR="0" indent="0" algn="ctr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… please feel free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to report recommendations for a </a:t>
                      </a:r>
                      <a:r>
                        <a:rPr lang="en-US" sz="1200" b="1" baseline="0" dirty="0" smtClean="0">
                          <a:solidFill>
                            <a:schemeClr val="tx1"/>
                          </a:solidFill>
                        </a:rPr>
                        <a:t>self-chosen country (if based on scientific sources!)</a:t>
                      </a:r>
                      <a:endParaRPr 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86523925"/>
                  </a:ext>
                </a:extLst>
              </a:tr>
            </a:tbl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xmlns="" id="{E1EBD993-8F64-4800-9D11-056A8CE7E36E}"/>
              </a:ext>
            </a:extLst>
          </p:cNvPr>
          <p:cNvSpPr/>
          <p:nvPr/>
        </p:nvSpPr>
        <p:spPr>
          <a:xfrm rot="558159">
            <a:off x="6435259" y="640381"/>
            <a:ext cx="2505041" cy="78752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66154" tIns="166154" rIns="166154" bIns="16615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1662" b="1" dirty="0" err="1" smtClean="0">
                <a:solidFill>
                  <a:schemeClr val="tx1"/>
                </a:solidFill>
              </a:rPr>
              <a:t>suggestions</a:t>
            </a:r>
            <a:r>
              <a:rPr lang="de-DE" sz="1662" b="1" dirty="0" smtClean="0">
                <a:solidFill>
                  <a:schemeClr val="tx1"/>
                </a:solidFill>
              </a:rPr>
              <a:t>, </a:t>
            </a:r>
            <a:r>
              <a:rPr lang="de-DE" sz="1662" b="1" dirty="0" err="1">
                <a:solidFill>
                  <a:schemeClr val="tx1"/>
                </a:solidFill>
              </a:rPr>
              <a:t>campus</a:t>
            </a:r>
            <a:r>
              <a:rPr lang="de-DE" sz="1662" b="1" dirty="0">
                <a:solidFill>
                  <a:schemeClr val="tx1"/>
                </a:solidFill>
              </a:rPr>
              <a:t> </a:t>
            </a:r>
            <a:r>
              <a:rPr lang="de-DE" sz="1662" b="1" dirty="0" err="1">
                <a:solidFill>
                  <a:schemeClr val="tx1"/>
                </a:solidFill>
              </a:rPr>
              <a:t>Munich</a:t>
            </a:r>
            <a:r>
              <a:rPr lang="de-DE" sz="1662" b="1" dirty="0">
                <a:solidFill>
                  <a:schemeClr val="tx1"/>
                </a:solidFill>
              </a:rPr>
              <a:t> </a:t>
            </a:r>
            <a:r>
              <a:rPr lang="de-DE" sz="1662" b="1" dirty="0" smtClean="0">
                <a:solidFill>
                  <a:schemeClr val="tx1"/>
                </a:solidFill>
              </a:rPr>
              <a:t>winter19</a:t>
            </a:r>
            <a:endParaRPr lang="de-DE" sz="1662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79856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Oral </a:t>
            </a:r>
            <a:r>
              <a:rPr lang="de-DE" dirty="0" err="1"/>
              <a:t>presentation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1" y="476672"/>
            <a:ext cx="9138462" cy="656769"/>
          </a:xfrm>
        </p:spPr>
        <p:txBody>
          <a:bodyPr/>
          <a:lstStyle/>
          <a:p>
            <a:r>
              <a:rPr lang="de-DE" dirty="0" smtClean="0"/>
              <a:t>Case Studies</a:t>
            </a:r>
            <a:endParaRPr lang="de-DE" dirty="0"/>
          </a:p>
          <a:p>
            <a:endParaRPr lang="de-DE" sz="200" b="0" dirty="0" smtClean="0"/>
          </a:p>
          <a:p>
            <a:r>
              <a:rPr lang="de-DE" sz="1600" dirty="0" err="1" smtClean="0"/>
              <a:t>Please</a:t>
            </a:r>
            <a:r>
              <a:rPr lang="de-DE" sz="1600" dirty="0" smtClean="0"/>
              <a:t> </a:t>
            </a:r>
            <a:r>
              <a:rPr lang="de-DE" sz="1600" dirty="0" err="1" smtClean="0"/>
              <a:t>choose</a:t>
            </a:r>
            <a:r>
              <a:rPr lang="de-DE" sz="1600" dirty="0" smtClean="0"/>
              <a:t> </a:t>
            </a:r>
            <a:r>
              <a:rPr lang="de-DE" sz="1600" dirty="0" err="1" smtClean="0"/>
              <a:t>one</a:t>
            </a:r>
            <a:r>
              <a:rPr lang="de-DE" sz="1600" dirty="0" smtClean="0"/>
              <a:t> </a:t>
            </a:r>
            <a:r>
              <a:rPr lang="de-DE" sz="1600" dirty="0" err="1" smtClean="0"/>
              <a:t>of</a:t>
            </a:r>
            <a:r>
              <a:rPr lang="de-DE" sz="1600" dirty="0" smtClean="0"/>
              <a:t> </a:t>
            </a:r>
            <a:r>
              <a:rPr lang="de-DE" sz="1600" dirty="0" err="1" smtClean="0"/>
              <a:t>the</a:t>
            </a:r>
            <a:r>
              <a:rPr lang="de-DE" sz="1600" dirty="0" smtClean="0"/>
              <a:t> </a:t>
            </a:r>
            <a:r>
              <a:rPr lang="de-DE" sz="1600" dirty="0" err="1" smtClean="0"/>
              <a:t>following</a:t>
            </a:r>
            <a:r>
              <a:rPr lang="de-DE" sz="1600" dirty="0" smtClean="0"/>
              <a:t> </a:t>
            </a:r>
            <a:r>
              <a:rPr lang="de-DE" sz="1600" dirty="0" err="1" smtClean="0"/>
              <a:t>cases</a:t>
            </a:r>
            <a:r>
              <a:rPr lang="de-DE" sz="1600" dirty="0" smtClean="0"/>
              <a:t> </a:t>
            </a:r>
            <a:r>
              <a:rPr lang="de-DE" sz="1600" dirty="0" err="1" smtClean="0"/>
              <a:t>studies</a:t>
            </a:r>
            <a:r>
              <a:rPr lang="de-DE" sz="1600" dirty="0" smtClean="0"/>
              <a:t> </a:t>
            </a:r>
            <a:r>
              <a:rPr lang="de-DE" sz="1600" dirty="0" err="1" smtClean="0"/>
              <a:t>and</a:t>
            </a:r>
            <a:r>
              <a:rPr lang="de-DE" sz="1600" dirty="0" smtClean="0"/>
              <a:t> </a:t>
            </a:r>
            <a:r>
              <a:rPr lang="de-DE" sz="1600" dirty="0" err="1" smtClean="0"/>
              <a:t>describe</a:t>
            </a:r>
            <a:r>
              <a:rPr lang="de-DE" sz="1600" dirty="0" smtClean="0"/>
              <a:t> </a:t>
            </a:r>
            <a:r>
              <a:rPr lang="de-DE" sz="1600" dirty="0" err="1" smtClean="0"/>
              <a:t>the</a:t>
            </a:r>
            <a:r>
              <a:rPr lang="de-DE" sz="1600" dirty="0" smtClean="0"/>
              <a:t> </a:t>
            </a:r>
            <a:r>
              <a:rPr lang="de-DE" sz="1600" dirty="0" err="1" smtClean="0"/>
              <a:t>conditions</a:t>
            </a:r>
            <a:r>
              <a:rPr lang="de-DE" sz="1600" dirty="0" smtClean="0"/>
              <a:t> </a:t>
            </a:r>
            <a:r>
              <a:rPr lang="de-DE" sz="1600" dirty="0" err="1" smtClean="0"/>
              <a:t>of</a:t>
            </a:r>
            <a:r>
              <a:rPr lang="de-DE" sz="1600" dirty="0" smtClean="0"/>
              <a:t> </a:t>
            </a:r>
            <a:r>
              <a:rPr lang="de-DE" sz="1600" dirty="0" err="1" smtClean="0"/>
              <a:t>the</a:t>
            </a:r>
            <a:r>
              <a:rPr lang="de-DE" sz="1600" dirty="0" smtClean="0"/>
              <a:t> </a:t>
            </a:r>
            <a:r>
              <a:rPr lang="de-DE" sz="1600" dirty="0" err="1" smtClean="0"/>
              <a:t>case</a:t>
            </a:r>
            <a:r>
              <a:rPr lang="de-DE" sz="1600" dirty="0" smtClean="0"/>
              <a:t> </a:t>
            </a:r>
            <a:r>
              <a:rPr lang="de-DE" sz="1600" dirty="0" err="1" smtClean="0"/>
              <a:t>shortly</a:t>
            </a:r>
            <a:r>
              <a:rPr lang="de-DE" sz="1600" dirty="0" smtClean="0"/>
              <a:t> </a:t>
            </a:r>
            <a:r>
              <a:rPr lang="de-DE" sz="1600" dirty="0" err="1" smtClean="0"/>
              <a:t>and</a:t>
            </a:r>
            <a:r>
              <a:rPr lang="de-DE" sz="1600" dirty="0" smtClean="0"/>
              <a:t> </a:t>
            </a:r>
            <a:r>
              <a:rPr lang="de-DE" sz="1600" dirty="0" err="1" smtClean="0"/>
              <a:t>succinctly</a:t>
            </a:r>
            <a:r>
              <a:rPr lang="de-DE" sz="1600" dirty="0" smtClean="0"/>
              <a:t> </a:t>
            </a:r>
            <a:r>
              <a:rPr lang="de-DE" sz="1600" dirty="0" err="1" smtClean="0"/>
              <a:t>to</a:t>
            </a:r>
            <a:r>
              <a:rPr lang="de-DE" sz="1600" dirty="0" smtClean="0"/>
              <a:t> </a:t>
            </a:r>
            <a:r>
              <a:rPr lang="de-DE" sz="1600" dirty="0" err="1" smtClean="0"/>
              <a:t>your</a:t>
            </a:r>
            <a:r>
              <a:rPr lang="de-DE" sz="1600" dirty="0"/>
              <a:t> </a:t>
            </a:r>
            <a:r>
              <a:rPr lang="de-DE" sz="1600" dirty="0" err="1" smtClean="0"/>
              <a:t>fellow</a:t>
            </a:r>
            <a:r>
              <a:rPr lang="de-DE" sz="1600" dirty="0" smtClean="0"/>
              <a:t> </a:t>
            </a:r>
            <a:r>
              <a:rPr lang="de-DE" sz="1600" dirty="0" err="1"/>
              <a:t>students</a:t>
            </a:r>
            <a:r>
              <a:rPr lang="de-DE" sz="1600" dirty="0" smtClean="0"/>
              <a:t>. </a:t>
            </a:r>
            <a:r>
              <a:rPr lang="de-DE" sz="1600" dirty="0" err="1" smtClean="0"/>
              <a:t>Please</a:t>
            </a:r>
            <a:r>
              <a:rPr lang="de-DE" sz="1600" dirty="0" smtClean="0"/>
              <a:t> </a:t>
            </a:r>
            <a:r>
              <a:rPr lang="de-DE" sz="1600" dirty="0" err="1" smtClean="0"/>
              <a:t>answer</a:t>
            </a:r>
            <a:r>
              <a:rPr lang="de-DE" sz="1600" dirty="0" smtClean="0"/>
              <a:t> </a:t>
            </a:r>
            <a:r>
              <a:rPr lang="de-DE" sz="1600" dirty="0" err="1" smtClean="0"/>
              <a:t>the</a:t>
            </a:r>
            <a:r>
              <a:rPr lang="de-DE" sz="1600" dirty="0" smtClean="0"/>
              <a:t> </a:t>
            </a:r>
            <a:r>
              <a:rPr lang="de-DE" sz="1600" dirty="0" err="1" smtClean="0"/>
              <a:t>case-related</a:t>
            </a:r>
            <a:r>
              <a:rPr lang="de-DE" sz="1600" dirty="0" smtClean="0"/>
              <a:t> </a:t>
            </a:r>
            <a:r>
              <a:rPr lang="de-DE" sz="1600" dirty="0" err="1" smtClean="0"/>
              <a:t>questions</a:t>
            </a:r>
            <a:r>
              <a:rPr lang="de-DE" sz="1600" dirty="0" smtClean="0"/>
              <a:t> </a:t>
            </a:r>
            <a:r>
              <a:rPr lang="de-DE" sz="1600" dirty="0" err="1" smtClean="0"/>
              <a:t>next</a:t>
            </a:r>
            <a:r>
              <a:rPr lang="de-DE" sz="1600" dirty="0" smtClean="0"/>
              <a:t>. </a:t>
            </a:r>
            <a:r>
              <a:rPr lang="de-DE" sz="1600" dirty="0"/>
              <a:t>Keep </a:t>
            </a:r>
            <a:r>
              <a:rPr lang="de-DE" sz="1600" dirty="0" err="1"/>
              <a:t>your</a:t>
            </a:r>
            <a:r>
              <a:rPr lang="de-DE" sz="1600" dirty="0"/>
              <a:t> </a:t>
            </a:r>
            <a:r>
              <a:rPr lang="de-DE" sz="1600" dirty="0" err="1"/>
              <a:t>messages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point</a:t>
            </a:r>
            <a:r>
              <a:rPr lang="de-DE" sz="1600" dirty="0"/>
              <a:t> </a:t>
            </a:r>
            <a:r>
              <a:rPr lang="de-DE" sz="1600" dirty="0" err="1"/>
              <a:t>within</a:t>
            </a:r>
            <a:r>
              <a:rPr lang="de-DE" sz="1600" dirty="0"/>
              <a:t> </a:t>
            </a:r>
            <a:r>
              <a:rPr lang="de-DE" sz="1600" dirty="0" smtClean="0"/>
              <a:t>15 </a:t>
            </a:r>
            <a:r>
              <a:rPr lang="de-DE" sz="1600" dirty="0" err="1"/>
              <a:t>minutes</a:t>
            </a:r>
            <a:r>
              <a:rPr lang="de-DE" sz="1600" dirty="0"/>
              <a:t> </a:t>
            </a:r>
            <a:r>
              <a:rPr lang="de-DE" sz="1600" dirty="0" err="1"/>
              <a:t>speaking</a:t>
            </a:r>
            <a:r>
              <a:rPr lang="de-DE" sz="1600" dirty="0"/>
              <a:t> time. </a:t>
            </a:r>
            <a:r>
              <a:rPr lang="de-DE" sz="1600" dirty="0" err="1"/>
              <a:t>Reflect</a:t>
            </a:r>
            <a:r>
              <a:rPr lang="de-DE" sz="1600" dirty="0"/>
              <a:t> </a:t>
            </a:r>
            <a:r>
              <a:rPr lang="de-DE" sz="1600" dirty="0" err="1"/>
              <a:t>and</a:t>
            </a:r>
            <a:r>
              <a:rPr lang="de-DE" sz="1600" dirty="0"/>
              <a:t> </a:t>
            </a:r>
            <a:r>
              <a:rPr lang="de-DE" sz="1600" dirty="0" err="1"/>
              <a:t>discuss</a:t>
            </a:r>
            <a:r>
              <a:rPr lang="de-DE" sz="1600" dirty="0"/>
              <a:t> </a:t>
            </a:r>
            <a:r>
              <a:rPr lang="de-DE" sz="1600" dirty="0" err="1"/>
              <a:t>your</a:t>
            </a:r>
            <a:r>
              <a:rPr lang="de-DE" sz="1600" dirty="0"/>
              <a:t> </a:t>
            </a:r>
            <a:r>
              <a:rPr lang="de-DE" sz="1600" dirty="0" err="1"/>
              <a:t>insights</a:t>
            </a:r>
            <a:r>
              <a:rPr lang="de-DE" sz="1600" dirty="0"/>
              <a:t> </a:t>
            </a:r>
            <a:r>
              <a:rPr lang="de-DE" sz="1600" dirty="0" err="1"/>
              <a:t>with</a:t>
            </a:r>
            <a:r>
              <a:rPr lang="de-DE" sz="1600" dirty="0"/>
              <a:t> </a:t>
            </a:r>
            <a:r>
              <a:rPr lang="de-DE" sz="1600" dirty="0" err="1"/>
              <a:t>your</a:t>
            </a:r>
            <a:r>
              <a:rPr lang="de-DE" sz="1600" dirty="0"/>
              <a:t> </a:t>
            </a:r>
            <a:r>
              <a:rPr lang="de-DE" sz="1600" dirty="0" err="1"/>
              <a:t>fellow</a:t>
            </a:r>
            <a:r>
              <a:rPr lang="de-DE" sz="1600" dirty="0"/>
              <a:t> </a:t>
            </a:r>
            <a:r>
              <a:rPr lang="de-DE" sz="1600" dirty="0" err="1"/>
              <a:t>students</a:t>
            </a:r>
            <a:r>
              <a:rPr lang="de-DE" sz="1600" dirty="0"/>
              <a:t>.</a:t>
            </a:r>
          </a:p>
        </p:txBody>
      </p:sp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43488030"/>
              </p:ext>
            </p:extLst>
          </p:nvPr>
        </p:nvGraphicFramePr>
        <p:xfrm>
          <a:off x="107504" y="2204864"/>
          <a:ext cx="8710198" cy="4230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92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04570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056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42314">
                <a:tc>
                  <a:txBody>
                    <a:bodyPr/>
                    <a:lstStyle/>
                    <a:p>
                      <a:pPr algn="ctr"/>
                      <a:r>
                        <a:rPr lang="de-DE" sz="1300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dirty="0" smtClean="0">
                          <a:solidFill>
                            <a:schemeClr val="tx1"/>
                          </a:solidFill>
                        </a:rPr>
                        <a:t>Cases </a:t>
                      </a:r>
                      <a:r>
                        <a:rPr lang="de-DE" sz="1300" dirty="0" err="1" smtClean="0">
                          <a:solidFill>
                            <a:schemeClr val="tx1"/>
                          </a:solidFill>
                        </a:rPr>
                        <a:t>from</a:t>
                      </a:r>
                      <a:r>
                        <a:rPr lang="de-DE" sz="13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</a:rPr>
                        <a:t>In C. </a:t>
                      </a:r>
                      <a:r>
                        <a:rPr lang="en-US" sz="1300" dirty="0" err="1" smtClean="0">
                          <a:solidFill>
                            <a:schemeClr val="tx1"/>
                          </a:solidFill>
                        </a:rPr>
                        <a:t>Barmeyer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</a:rPr>
                        <a:t> &amp; P. Franklin (Eds.) Intercultural Management: A Case-Based Approach to Achieving Complementarity and Synergy. London: Palgrave.</a:t>
                      </a: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300" dirty="0">
                          <a:solidFill>
                            <a:schemeClr val="tx1"/>
                          </a:solidFill>
                        </a:rPr>
                        <a:t>Speaker</a:t>
                      </a: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5758">
                <a:tc>
                  <a:txBody>
                    <a:bodyPr/>
                    <a:lstStyle/>
                    <a:p>
                      <a:pPr marL="0" marR="0" indent="0" algn="ctr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300" b="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300" baseline="0" dirty="0" err="1" smtClean="0">
                          <a:solidFill>
                            <a:srgbClr val="FF0000"/>
                          </a:solidFill>
                        </a:rPr>
                        <a:t>Audebert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, F., Beyer, T. &amp; Hackl , V. (2016). Smart </a:t>
                      </a:r>
                      <a:r>
                        <a:rPr lang="de-DE" sz="1300" baseline="0" dirty="0" err="1" smtClean="0">
                          <a:solidFill>
                            <a:srgbClr val="FF0000"/>
                          </a:solidFill>
                        </a:rPr>
                        <a:t>Spacing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: The Impact </a:t>
                      </a:r>
                      <a:r>
                        <a:rPr lang="de-DE" sz="1300" baseline="0" dirty="0" err="1" smtClean="0">
                          <a:solidFill>
                            <a:srgbClr val="FF0000"/>
                          </a:solidFill>
                        </a:rPr>
                        <a:t>of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 Locations on </a:t>
                      </a:r>
                      <a:r>
                        <a:rPr lang="de-DE" sz="1300" b="1" baseline="0" dirty="0" err="1" smtClean="0">
                          <a:solidFill>
                            <a:srgbClr val="FF0000"/>
                          </a:solidFill>
                        </a:rPr>
                        <a:t>Intercultural</a:t>
                      </a:r>
                      <a:r>
                        <a:rPr lang="de-DE" sz="1300" b="1" baseline="0" dirty="0" smtClean="0">
                          <a:solidFill>
                            <a:srgbClr val="FF0000"/>
                          </a:solidFill>
                        </a:rPr>
                        <a:t> Trust Building </a:t>
                      </a:r>
                      <a:r>
                        <a:rPr lang="de-DE" sz="1300" b="1" baseline="0" dirty="0" err="1" smtClean="0">
                          <a:solidFill>
                            <a:srgbClr val="FF0000"/>
                          </a:solidFill>
                        </a:rPr>
                        <a:t>and</a:t>
                      </a:r>
                      <a:r>
                        <a:rPr lang="de-DE" sz="1300" b="1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e-DE" sz="1300" b="1" baseline="0" dirty="0" err="1" smtClean="0">
                          <a:solidFill>
                            <a:srgbClr val="FF0000"/>
                          </a:solidFill>
                        </a:rPr>
                        <a:t>Decision</a:t>
                      </a:r>
                      <a:r>
                        <a:rPr lang="de-DE" sz="1300" b="1" baseline="0" dirty="0" smtClean="0">
                          <a:solidFill>
                            <a:srgbClr val="FF0000"/>
                          </a:solidFill>
                        </a:rPr>
                        <a:t> Making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 (</a:t>
                      </a:r>
                      <a:r>
                        <a:rPr lang="de-DE" sz="1300" i="1" baseline="0" dirty="0" smtClean="0">
                          <a:solidFill>
                            <a:srgbClr val="FF0000"/>
                          </a:solidFill>
                        </a:rPr>
                        <a:t>pp. 107-119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).</a:t>
                      </a:r>
                      <a:endParaRPr lang="de-DE" sz="1300" dirty="0" smtClean="0">
                        <a:solidFill>
                          <a:srgbClr val="FF0000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endParaRPr lang="de-DE" sz="1300" b="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dirty="0" smtClean="0">
                          <a:solidFill>
                            <a:srgbClr val="FF0000"/>
                          </a:solidFill>
                        </a:rPr>
                        <a:t>Spencer-</a:t>
                      </a:r>
                      <a:r>
                        <a:rPr lang="de-DE" sz="1300" dirty="0" err="1" smtClean="0">
                          <a:solidFill>
                            <a:srgbClr val="FF0000"/>
                          </a:solidFill>
                        </a:rPr>
                        <a:t>Oatey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, H (2016). </a:t>
                      </a:r>
                      <a:r>
                        <a:rPr lang="de-DE" sz="1300" baseline="0" dirty="0" err="1" smtClean="0">
                          <a:solidFill>
                            <a:srgbClr val="FF0000"/>
                          </a:solidFill>
                        </a:rPr>
                        <a:t>Planning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 a </a:t>
                      </a:r>
                      <a:r>
                        <a:rPr lang="de-DE" sz="1300" b="1" baseline="0" dirty="0" err="1" smtClean="0">
                          <a:solidFill>
                            <a:srgbClr val="FF0000"/>
                          </a:solidFill>
                        </a:rPr>
                        <a:t>Sinio</a:t>
                      </a:r>
                      <a:r>
                        <a:rPr lang="de-DE" sz="1300" b="1" baseline="0" dirty="0" smtClean="0">
                          <a:solidFill>
                            <a:srgbClr val="FF0000"/>
                          </a:solidFill>
                        </a:rPr>
                        <a:t>-British Collaborative Workshop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: </a:t>
                      </a:r>
                      <a:r>
                        <a:rPr lang="de-DE" sz="1300" baseline="0" dirty="0" err="1" smtClean="0">
                          <a:solidFill>
                            <a:srgbClr val="FF0000"/>
                          </a:solidFill>
                        </a:rPr>
                        <a:t>Negotiating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e-DE" sz="1300" baseline="0" dirty="0" err="1" smtClean="0">
                          <a:solidFill>
                            <a:srgbClr val="FF0000"/>
                          </a:solidFill>
                        </a:rPr>
                        <a:t>Preferences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e-DE" sz="1300" baseline="0" dirty="0" err="1" smtClean="0">
                          <a:solidFill>
                            <a:srgbClr val="FF0000"/>
                          </a:solidFill>
                        </a:rPr>
                        <a:t>and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e-DE" sz="1300" baseline="0" dirty="0" err="1" smtClean="0">
                          <a:solidFill>
                            <a:srgbClr val="FF0000"/>
                          </a:solidFill>
                        </a:rPr>
                        <a:t>Achieving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e-DE" sz="1300" baseline="0" dirty="0" err="1" smtClean="0">
                          <a:solidFill>
                            <a:srgbClr val="FF0000"/>
                          </a:solidFill>
                        </a:rPr>
                        <a:t>Synergy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e-DE" sz="1300" i="1" baseline="0" dirty="0" smtClean="0">
                          <a:solidFill>
                            <a:srgbClr val="FF0000"/>
                          </a:solidFill>
                        </a:rPr>
                        <a:t>(pp. 38-50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). </a:t>
                      </a:r>
                      <a:endParaRPr lang="de-DE" sz="1300" dirty="0">
                        <a:solidFill>
                          <a:srgbClr val="FF0000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02046">
                <a:tc>
                  <a:txBody>
                    <a:bodyPr/>
                    <a:lstStyle/>
                    <a:p>
                      <a:pPr marL="0" marR="0" indent="0" algn="ctr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300" b="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300" baseline="0" dirty="0" err="1" smtClean="0">
                          <a:solidFill>
                            <a:srgbClr val="FF0000"/>
                          </a:solidFill>
                        </a:rPr>
                        <a:t>Genkova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, P. &amp; </a:t>
                      </a:r>
                      <a:r>
                        <a:rPr lang="de-DE" sz="1300" baseline="0" dirty="0" err="1" smtClean="0">
                          <a:solidFill>
                            <a:srgbClr val="FF0000"/>
                          </a:solidFill>
                        </a:rPr>
                        <a:t>Gajda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, A. (2016). </a:t>
                      </a:r>
                      <a:r>
                        <a:rPr lang="de-DE" sz="1300" baseline="0" dirty="0" err="1" smtClean="0">
                          <a:solidFill>
                            <a:srgbClr val="FF0000"/>
                          </a:solidFill>
                        </a:rPr>
                        <a:t>Intercultural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e-DE" sz="1300" baseline="0" dirty="0" err="1" smtClean="0">
                          <a:solidFill>
                            <a:srgbClr val="FF0000"/>
                          </a:solidFill>
                        </a:rPr>
                        <a:t>Challenges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 in International </a:t>
                      </a:r>
                      <a:r>
                        <a:rPr lang="de-DE" sz="1300" b="1" baseline="0" dirty="0" smtClean="0">
                          <a:solidFill>
                            <a:srgbClr val="FF0000"/>
                          </a:solidFill>
                        </a:rPr>
                        <a:t>Mergers </a:t>
                      </a:r>
                      <a:r>
                        <a:rPr lang="de-DE" sz="1300" b="1" baseline="0" dirty="0" err="1" smtClean="0">
                          <a:solidFill>
                            <a:srgbClr val="FF0000"/>
                          </a:solidFill>
                        </a:rPr>
                        <a:t>and</a:t>
                      </a:r>
                      <a:r>
                        <a:rPr lang="de-DE" sz="1300" b="1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e-DE" sz="1300" b="1" baseline="0" dirty="0" err="1" smtClean="0">
                          <a:solidFill>
                            <a:srgbClr val="FF0000"/>
                          </a:solidFill>
                        </a:rPr>
                        <a:t>Acquistions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: A </a:t>
                      </a:r>
                      <a:r>
                        <a:rPr lang="de-DE" sz="1300" b="1" baseline="0" dirty="0" smtClean="0">
                          <a:solidFill>
                            <a:srgbClr val="FF0000"/>
                          </a:solidFill>
                        </a:rPr>
                        <a:t>German-</a:t>
                      </a:r>
                      <a:r>
                        <a:rPr lang="de-DE" sz="1300" b="1" baseline="0" dirty="0" err="1" smtClean="0">
                          <a:solidFill>
                            <a:srgbClr val="FF0000"/>
                          </a:solidFill>
                        </a:rPr>
                        <a:t>Bulgarian</a:t>
                      </a:r>
                      <a:r>
                        <a:rPr lang="de-DE" sz="1300" b="1" baseline="0" dirty="0" smtClean="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de-DE" sz="1300" b="1" baseline="0" dirty="0" err="1" smtClean="0">
                          <a:solidFill>
                            <a:srgbClr val="FF0000"/>
                          </a:solidFill>
                        </a:rPr>
                        <a:t>Romanian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 Case Study </a:t>
                      </a:r>
                      <a:r>
                        <a:rPr lang="de-DE" sz="1300" i="1" baseline="0" dirty="0" smtClean="0">
                          <a:solidFill>
                            <a:srgbClr val="FF0000"/>
                          </a:solidFill>
                        </a:rPr>
                        <a:t>(pp. 51-68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). </a:t>
                      </a:r>
                      <a:endParaRPr lang="de-DE" sz="1300" dirty="0" smtClean="0">
                        <a:solidFill>
                          <a:srgbClr val="FF0000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indent="0" algn="ctr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300" b="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Kempf, M. &amp; Franklin, P. (2016). </a:t>
                      </a:r>
                      <a:r>
                        <a:rPr lang="de-DE" sz="1300" b="1" baseline="0" dirty="0" smtClean="0">
                          <a:solidFill>
                            <a:srgbClr val="FF0000"/>
                          </a:solidFill>
                        </a:rPr>
                        <a:t>Adidas </a:t>
                      </a:r>
                      <a:r>
                        <a:rPr lang="de-DE" sz="1300" b="1" baseline="0" dirty="0" err="1" smtClean="0">
                          <a:solidFill>
                            <a:srgbClr val="FF0000"/>
                          </a:solidFill>
                        </a:rPr>
                        <a:t>and</a:t>
                      </a:r>
                      <a:r>
                        <a:rPr lang="de-DE" sz="1300" b="1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e-DE" sz="1300" b="1" baseline="0" dirty="0" err="1" smtClean="0">
                          <a:solidFill>
                            <a:srgbClr val="FF0000"/>
                          </a:solidFill>
                        </a:rPr>
                        <a:t>Reebok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: </a:t>
                      </a:r>
                      <a:r>
                        <a:rPr lang="de-DE" sz="1300" baseline="0" dirty="0" err="1" smtClean="0">
                          <a:solidFill>
                            <a:srgbClr val="FF0000"/>
                          </a:solidFill>
                        </a:rPr>
                        <a:t>What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e-DE" sz="1300" baseline="0" dirty="0" err="1" smtClean="0">
                          <a:solidFill>
                            <a:srgbClr val="FF0000"/>
                          </a:solidFill>
                        </a:rPr>
                        <a:t>Expetriate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 Managers Need </a:t>
                      </a:r>
                      <a:r>
                        <a:rPr lang="de-DE" sz="1300" baseline="0" dirty="0" err="1" smtClean="0">
                          <a:solidFill>
                            <a:srgbClr val="FF0000"/>
                          </a:solidFill>
                        </a:rPr>
                        <a:t>to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e-DE" sz="1300" b="1" baseline="0" dirty="0" smtClean="0">
                          <a:solidFill>
                            <a:srgbClr val="FF0000"/>
                          </a:solidFill>
                        </a:rPr>
                        <a:t>Manage M&amp;A </a:t>
                      </a:r>
                      <a:r>
                        <a:rPr lang="de-DE" sz="1300" b="1" baseline="0" dirty="0" err="1" smtClean="0">
                          <a:solidFill>
                            <a:srgbClr val="FF0000"/>
                          </a:solidFill>
                        </a:rPr>
                        <a:t>Across</a:t>
                      </a:r>
                      <a:r>
                        <a:rPr lang="de-DE" sz="1300" b="1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e-DE" sz="1300" b="1" baseline="0" dirty="0" err="1" smtClean="0">
                          <a:solidFill>
                            <a:srgbClr val="FF0000"/>
                          </a:solidFill>
                        </a:rPr>
                        <a:t>Cultures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e-DE" sz="1300" i="1" baseline="0" dirty="0" smtClean="0">
                          <a:solidFill>
                            <a:srgbClr val="FF0000"/>
                          </a:solidFill>
                        </a:rPr>
                        <a:t>(pp. 148-166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). </a:t>
                      </a:r>
                      <a:endParaRPr lang="de-DE" sz="1300" dirty="0" smtClean="0">
                        <a:solidFill>
                          <a:srgbClr val="FF0000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26818">
                <a:tc>
                  <a:txBody>
                    <a:bodyPr/>
                    <a:lstStyle/>
                    <a:p>
                      <a:pPr algn="ctr"/>
                      <a:endParaRPr lang="de-DE" sz="1300" b="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300" baseline="0" dirty="0" err="1" smtClean="0">
                          <a:solidFill>
                            <a:srgbClr val="FF0000"/>
                          </a:solidFill>
                        </a:rPr>
                        <a:t>Trompenaars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, F. &amp; van den Bergh, R. (2016). </a:t>
                      </a:r>
                      <a:r>
                        <a:rPr lang="de-DE" sz="1300" b="0" baseline="0" dirty="0" err="1" smtClean="0">
                          <a:solidFill>
                            <a:srgbClr val="FF0000"/>
                          </a:solidFill>
                        </a:rPr>
                        <a:t>Going</a:t>
                      </a:r>
                      <a:r>
                        <a:rPr lang="de-DE" sz="1300" b="0" baseline="0" dirty="0" smtClean="0">
                          <a:solidFill>
                            <a:srgbClr val="FF0000"/>
                          </a:solidFill>
                        </a:rPr>
                        <a:t> Global Versus </a:t>
                      </a:r>
                      <a:r>
                        <a:rPr lang="de-DE" sz="1300" b="0" baseline="0" dirty="0" err="1" smtClean="0">
                          <a:solidFill>
                            <a:srgbClr val="FF0000"/>
                          </a:solidFill>
                        </a:rPr>
                        <a:t>Staying</a:t>
                      </a:r>
                      <a:r>
                        <a:rPr lang="de-DE" sz="1300" b="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e-DE" sz="1300" b="0" baseline="0" dirty="0" err="1" smtClean="0">
                          <a:solidFill>
                            <a:srgbClr val="FF0000"/>
                          </a:solidFill>
                        </a:rPr>
                        <a:t>Local</a:t>
                      </a:r>
                      <a:r>
                        <a:rPr lang="de-DE" sz="1300" b="0" baseline="0" dirty="0" smtClean="0">
                          <a:solidFill>
                            <a:srgbClr val="FF0000"/>
                          </a:solidFill>
                        </a:rPr>
                        <a:t>: </a:t>
                      </a:r>
                      <a:r>
                        <a:rPr lang="de-DE" sz="1300" b="1" baseline="0" dirty="0" smtClean="0">
                          <a:solidFill>
                            <a:srgbClr val="FF0000"/>
                          </a:solidFill>
                        </a:rPr>
                        <a:t>The Performance Management Dilemma </a:t>
                      </a:r>
                      <a:r>
                        <a:rPr lang="de-DE" sz="1300" b="0" baseline="0" dirty="0" smtClean="0">
                          <a:solidFill>
                            <a:srgbClr val="FF0000"/>
                          </a:solidFill>
                        </a:rPr>
                        <a:t>in </a:t>
                      </a:r>
                      <a:r>
                        <a:rPr lang="de-DE" sz="1300" b="0" baseline="0" dirty="0" err="1" smtClean="0">
                          <a:solidFill>
                            <a:srgbClr val="FF0000"/>
                          </a:solidFill>
                        </a:rPr>
                        <a:t>the</a:t>
                      </a:r>
                      <a:r>
                        <a:rPr lang="de-DE" sz="1300" b="0" baseline="0" dirty="0" smtClean="0">
                          <a:solidFill>
                            <a:srgbClr val="FF0000"/>
                          </a:solidFill>
                        </a:rPr>
                        <a:t> International </a:t>
                      </a:r>
                      <a:r>
                        <a:rPr lang="de-DE" sz="1300" b="0" baseline="0" dirty="0" err="1" smtClean="0">
                          <a:solidFill>
                            <a:srgbClr val="FF0000"/>
                          </a:solidFill>
                        </a:rPr>
                        <a:t>Context</a:t>
                      </a:r>
                      <a:r>
                        <a:rPr lang="de-DE" sz="1300" b="1" baseline="0" dirty="0" smtClean="0">
                          <a:solidFill>
                            <a:srgbClr val="FF0000"/>
                          </a:solidFill>
                        </a:rPr>
                        <a:t>  </a:t>
                      </a:r>
                      <a:r>
                        <a:rPr lang="de-DE" sz="1300" i="1" baseline="0" dirty="0" smtClean="0">
                          <a:solidFill>
                            <a:srgbClr val="FF0000"/>
                          </a:solidFill>
                        </a:rPr>
                        <a:t>(pp. 272-284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). </a:t>
                      </a:r>
                      <a:endParaRPr lang="de-DE" sz="1300" dirty="0" smtClean="0">
                        <a:solidFill>
                          <a:srgbClr val="FF0000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26818">
                <a:tc>
                  <a:txBody>
                    <a:bodyPr/>
                    <a:lstStyle/>
                    <a:p>
                      <a:pPr algn="ctr"/>
                      <a:endParaRPr lang="de-DE" sz="1300" b="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300" baseline="0" dirty="0" err="1" smtClean="0">
                          <a:solidFill>
                            <a:srgbClr val="FF0000"/>
                          </a:solidFill>
                        </a:rPr>
                        <a:t>Storti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, C. &amp; </a:t>
                      </a:r>
                      <a:r>
                        <a:rPr lang="de-DE" sz="1300" baseline="0" dirty="0" err="1" smtClean="0">
                          <a:solidFill>
                            <a:srgbClr val="FF0000"/>
                          </a:solidFill>
                        </a:rPr>
                        <a:t>Framklin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, B. (2016). </a:t>
                      </a:r>
                      <a:r>
                        <a:rPr lang="de-DE" sz="1300" b="0" baseline="0" dirty="0" smtClean="0">
                          <a:solidFill>
                            <a:srgbClr val="FF0000"/>
                          </a:solidFill>
                        </a:rPr>
                        <a:t>Cultural </a:t>
                      </a:r>
                      <a:r>
                        <a:rPr lang="de-DE" sz="1300" b="0" baseline="0" dirty="0" err="1" smtClean="0">
                          <a:solidFill>
                            <a:srgbClr val="FF0000"/>
                          </a:solidFill>
                        </a:rPr>
                        <a:t>Aspects</a:t>
                      </a:r>
                      <a:r>
                        <a:rPr lang="de-DE" sz="1300" b="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e-DE" sz="1300" b="0" baseline="0" dirty="0" err="1" smtClean="0">
                          <a:solidFill>
                            <a:srgbClr val="FF0000"/>
                          </a:solidFill>
                        </a:rPr>
                        <a:t>of</a:t>
                      </a:r>
                      <a:r>
                        <a:rPr lang="de-DE" sz="1300" b="0" baseline="0" dirty="0" smtClean="0">
                          <a:solidFill>
                            <a:srgbClr val="FF0000"/>
                          </a:solidFill>
                        </a:rPr>
                        <a:t> Off-</a:t>
                      </a:r>
                      <a:r>
                        <a:rPr lang="de-DE" sz="1300" b="0" baseline="0" dirty="0" err="1" smtClean="0">
                          <a:solidFill>
                            <a:srgbClr val="FF0000"/>
                          </a:solidFill>
                        </a:rPr>
                        <a:t>Shoring</a:t>
                      </a:r>
                      <a:r>
                        <a:rPr lang="de-DE" sz="1300" b="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e-DE" sz="1300" b="0" baseline="0" dirty="0" err="1" smtClean="0">
                          <a:solidFill>
                            <a:srgbClr val="FF0000"/>
                          </a:solidFill>
                        </a:rPr>
                        <a:t>to</a:t>
                      </a:r>
                      <a:r>
                        <a:rPr lang="de-DE" sz="1300" b="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e-DE" sz="1300" b="1" baseline="0" dirty="0" err="1" smtClean="0">
                          <a:solidFill>
                            <a:srgbClr val="FF0000"/>
                          </a:solidFill>
                        </a:rPr>
                        <a:t>India</a:t>
                      </a:r>
                      <a:r>
                        <a:rPr lang="de-DE" sz="1300" b="0" baseline="0" dirty="0" smtClean="0">
                          <a:solidFill>
                            <a:srgbClr val="FF0000"/>
                          </a:solidFill>
                        </a:rPr>
                        <a:t>. </a:t>
                      </a:r>
                      <a:r>
                        <a:rPr lang="de-DE" sz="1300" i="1" baseline="0" dirty="0" smtClean="0">
                          <a:solidFill>
                            <a:srgbClr val="FF0000"/>
                          </a:solidFill>
                        </a:rPr>
                        <a:t>(pp. 184-196</a:t>
                      </a:r>
                      <a:r>
                        <a:rPr lang="de-DE" sz="1300" baseline="0" dirty="0" smtClean="0">
                          <a:solidFill>
                            <a:srgbClr val="FF0000"/>
                          </a:solidFill>
                        </a:rPr>
                        <a:t>). </a:t>
                      </a:r>
                      <a:endParaRPr lang="de-DE" sz="1300" dirty="0" smtClean="0">
                        <a:solidFill>
                          <a:srgbClr val="FF0000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61407484"/>
                  </a:ext>
                </a:extLst>
              </a:tr>
              <a:tr h="526818">
                <a:tc>
                  <a:txBody>
                    <a:bodyPr/>
                    <a:lstStyle/>
                    <a:p>
                      <a:pPr algn="ctr"/>
                      <a:endParaRPr lang="de-DE" sz="1300" b="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300" dirty="0" smtClean="0">
                          <a:solidFill>
                            <a:schemeClr val="tx1"/>
                          </a:solidFill>
                        </a:rPr>
                        <a:t>Schreier, Claus </a:t>
                      </a:r>
                      <a:r>
                        <a:rPr lang="de-DE" sz="1300" dirty="0" err="1" smtClean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de-DE" sz="1300" dirty="0" smtClean="0">
                          <a:solidFill>
                            <a:schemeClr val="tx1"/>
                          </a:solidFill>
                        </a:rPr>
                        <a:t> Astrid </a:t>
                      </a:r>
                      <a:r>
                        <a:rPr lang="de-DE" sz="1300" dirty="0" err="1" smtClean="0">
                          <a:solidFill>
                            <a:schemeClr val="tx1"/>
                          </a:solidFill>
                        </a:rPr>
                        <a:t>Kainzbauer</a:t>
                      </a:r>
                      <a:r>
                        <a:rPr lang="de-DE" sz="1300" dirty="0" smtClean="0">
                          <a:solidFill>
                            <a:schemeClr val="tx1"/>
                          </a:solidFill>
                        </a:rPr>
                        <a:t> (2016). Cultural </a:t>
                      </a:r>
                      <a:r>
                        <a:rPr lang="de-DE" sz="1300" dirty="0" err="1" smtClean="0">
                          <a:solidFill>
                            <a:schemeClr val="tx1"/>
                          </a:solidFill>
                        </a:rPr>
                        <a:t>Intelligence</a:t>
                      </a:r>
                      <a:r>
                        <a:rPr lang="de-DE" sz="13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300" dirty="0" err="1" smtClean="0">
                          <a:solidFill>
                            <a:schemeClr val="tx1"/>
                          </a:solidFill>
                        </a:rPr>
                        <a:t>at</a:t>
                      </a:r>
                      <a:r>
                        <a:rPr lang="de-DE" sz="1300" dirty="0" smtClean="0">
                          <a:solidFill>
                            <a:schemeClr val="tx1"/>
                          </a:solidFill>
                        </a:rPr>
                        <a:t> Work – A Case Study </a:t>
                      </a:r>
                      <a:r>
                        <a:rPr lang="de-DE" sz="1300" dirty="0" err="1" smtClean="0">
                          <a:solidFill>
                            <a:schemeClr val="tx1"/>
                          </a:solidFill>
                        </a:rPr>
                        <a:t>from</a:t>
                      </a:r>
                      <a:r>
                        <a:rPr lang="de-DE" sz="1300" dirty="0" smtClean="0">
                          <a:solidFill>
                            <a:schemeClr val="tx1"/>
                          </a:solidFill>
                        </a:rPr>
                        <a:t> Thailand, pp. 174-181.</a:t>
                      </a: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72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6462" marR="66462" marT="66462" marB="66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xmlns="" id="{E1EBD993-8F64-4800-9D11-056A8CE7E36E}"/>
              </a:ext>
            </a:extLst>
          </p:cNvPr>
          <p:cNvSpPr/>
          <p:nvPr/>
        </p:nvSpPr>
        <p:spPr>
          <a:xfrm rot="558159">
            <a:off x="6435259" y="640381"/>
            <a:ext cx="2505041" cy="78752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66154" tIns="166154" rIns="166154" bIns="16615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1662" b="1" dirty="0" err="1" smtClean="0">
                <a:solidFill>
                  <a:schemeClr val="tx1"/>
                </a:solidFill>
              </a:rPr>
              <a:t>suggestions</a:t>
            </a:r>
            <a:r>
              <a:rPr lang="de-DE" sz="1662" b="1" dirty="0" smtClean="0">
                <a:solidFill>
                  <a:schemeClr val="tx1"/>
                </a:solidFill>
              </a:rPr>
              <a:t>, </a:t>
            </a:r>
            <a:r>
              <a:rPr lang="de-DE" sz="1662" b="1" dirty="0" err="1">
                <a:solidFill>
                  <a:schemeClr val="tx1"/>
                </a:solidFill>
              </a:rPr>
              <a:t>campus</a:t>
            </a:r>
            <a:r>
              <a:rPr lang="de-DE" sz="1662" b="1" dirty="0">
                <a:solidFill>
                  <a:schemeClr val="tx1"/>
                </a:solidFill>
              </a:rPr>
              <a:t> </a:t>
            </a:r>
            <a:r>
              <a:rPr lang="de-DE" sz="1662" b="1" dirty="0" err="1">
                <a:solidFill>
                  <a:schemeClr val="tx1"/>
                </a:solidFill>
              </a:rPr>
              <a:t>Munich</a:t>
            </a:r>
            <a:r>
              <a:rPr lang="de-DE" sz="1662" b="1" dirty="0">
                <a:solidFill>
                  <a:schemeClr val="tx1"/>
                </a:solidFill>
              </a:rPr>
              <a:t> </a:t>
            </a:r>
            <a:r>
              <a:rPr lang="de-DE" sz="1662" b="1" dirty="0" smtClean="0">
                <a:solidFill>
                  <a:schemeClr val="tx1"/>
                </a:solidFill>
              </a:rPr>
              <a:t>winter19</a:t>
            </a:r>
            <a:endParaRPr lang="de-DE" sz="1662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32481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Literature</a:t>
            </a:r>
            <a:endParaRPr lang="en-GB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0" y="764704"/>
            <a:ext cx="8820472" cy="5543968"/>
          </a:xfrm>
        </p:spPr>
        <p:txBody>
          <a:bodyPr/>
          <a:lstStyle/>
          <a:p>
            <a:pPr marL="0" indent="0">
              <a:buNone/>
            </a:pPr>
            <a:r>
              <a:rPr lang="de-DE" sz="2000" b="1" dirty="0"/>
              <a:t>Recommended </a:t>
            </a:r>
            <a:r>
              <a:rPr lang="de-DE" sz="2000" b="1" dirty="0" err="1"/>
              <a:t>literature</a:t>
            </a:r>
            <a:endParaRPr lang="de-DE" sz="2000" b="1" dirty="0"/>
          </a:p>
          <a:p>
            <a:pPr marL="0" indent="0">
              <a:buNone/>
            </a:pPr>
            <a:endParaRPr lang="de-DE" sz="2000" b="1" dirty="0"/>
          </a:p>
          <a:p>
            <a:r>
              <a:rPr lang="en-GB" dirty="0" err="1"/>
              <a:t>Barmeyer</a:t>
            </a:r>
            <a:r>
              <a:rPr lang="en-GB" dirty="0"/>
              <a:t>, C.; Franklin, P. (2016). Intercultural Management: A Case-Based Approach to Achieving Complementarity and Synergy. New York: Palgrave </a:t>
            </a:r>
            <a:r>
              <a:rPr lang="en-GB" dirty="0" err="1"/>
              <a:t>Mcmillan</a:t>
            </a:r>
            <a:r>
              <a:rPr lang="en-GB" dirty="0"/>
              <a:t>.</a:t>
            </a:r>
          </a:p>
          <a:p>
            <a:r>
              <a:rPr lang="en-GB" dirty="0" err="1"/>
              <a:t>Carté</a:t>
            </a:r>
            <a:r>
              <a:rPr lang="en-GB" dirty="0"/>
              <a:t>, P.; Fox, C. (2008</a:t>
            </a:r>
            <a:r>
              <a:rPr lang="en-GB" dirty="0" smtClean="0"/>
              <a:t>). </a:t>
            </a:r>
            <a:r>
              <a:rPr lang="en-GB" dirty="0"/>
              <a:t>Bridging the Culture Gap: A Practical Guide to International Business Communication. 2</a:t>
            </a:r>
            <a:r>
              <a:rPr lang="en-GB" baseline="30000" dirty="0"/>
              <a:t>nd </a:t>
            </a:r>
            <a:r>
              <a:rPr lang="en-GB" dirty="0"/>
              <a:t>ed., London: Kogan Page. </a:t>
            </a:r>
          </a:p>
          <a:p>
            <a:r>
              <a:rPr lang="en-GB" dirty="0" err="1"/>
              <a:t>Deresky</a:t>
            </a:r>
            <a:r>
              <a:rPr lang="en-GB" dirty="0"/>
              <a:t>, H. (2003). International Management: Managing Across Borders and Cultures</a:t>
            </a:r>
            <a:r>
              <a:rPr lang="en-US" dirty="0"/>
              <a:t>. 4</a:t>
            </a:r>
            <a:r>
              <a:rPr lang="en-US" baseline="30000" dirty="0"/>
              <a:t>th</a:t>
            </a:r>
            <a:r>
              <a:rPr lang="en-US" dirty="0"/>
              <a:t> ed., Upper Saddle River: Pearson.</a:t>
            </a:r>
            <a:endParaRPr lang="en-GB" dirty="0"/>
          </a:p>
          <a:p>
            <a:r>
              <a:rPr lang="en-GB" dirty="0"/>
              <a:t>Jacob, N. (2003): Intercultural Management. </a:t>
            </a:r>
            <a:r>
              <a:rPr lang="en-GB" dirty="0" smtClean="0"/>
              <a:t>London: </a:t>
            </a:r>
            <a:r>
              <a:rPr lang="en-GB" dirty="0"/>
              <a:t>Kogan Page.</a:t>
            </a:r>
          </a:p>
          <a:p>
            <a:r>
              <a:rPr lang="en-US" dirty="0"/>
              <a:t>Schein, E. H. (2010): Organizational Culture and Leadership. 4</a:t>
            </a:r>
            <a:r>
              <a:rPr lang="en-US" baseline="30000" dirty="0"/>
              <a:t>th</a:t>
            </a:r>
            <a:r>
              <a:rPr lang="en-US" dirty="0"/>
              <a:t> ed., </a:t>
            </a:r>
            <a:r>
              <a:rPr lang="de-DE" dirty="0"/>
              <a:t> </a:t>
            </a:r>
            <a:r>
              <a:rPr lang="en-US" dirty="0"/>
              <a:t>San Francisco: Jossey-Bass.</a:t>
            </a:r>
            <a:endParaRPr lang="en-GB" dirty="0"/>
          </a:p>
          <a:p>
            <a:r>
              <a:rPr lang="en-GB" dirty="0"/>
              <a:t>Trompenaars, F.; </a:t>
            </a:r>
            <a:r>
              <a:rPr lang="en-GB" dirty="0" err="1"/>
              <a:t>Woolliams</a:t>
            </a:r>
            <a:r>
              <a:rPr lang="en-GB" dirty="0"/>
              <a:t>, P. (2003): Business Across Cultures. Chichester: Capstone. </a:t>
            </a:r>
          </a:p>
          <a:p>
            <a:endParaRPr lang="en-GB" alt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xmlns="" val="41797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olienmaster final">
  <a:themeElements>
    <a:clrScheme name="ISM">
      <a:dk1>
        <a:srgbClr val="000000"/>
      </a:dk1>
      <a:lt1>
        <a:srgbClr val="FFFFFF"/>
      </a:lt1>
      <a:dk2>
        <a:srgbClr val="9697A6"/>
      </a:dk2>
      <a:lt2>
        <a:srgbClr val="FFFFFF"/>
      </a:lt2>
      <a:accent1>
        <a:srgbClr val="002750"/>
      </a:accent1>
      <a:accent2>
        <a:srgbClr val="F59E00"/>
      </a:accent2>
      <a:accent3>
        <a:srgbClr val="ECEDEF"/>
      </a:accent3>
      <a:accent4>
        <a:srgbClr val="00B050"/>
      </a:accent4>
      <a:accent5>
        <a:srgbClr val="FF5050"/>
      </a:accent5>
      <a:accent6>
        <a:srgbClr val="FFFF66"/>
      </a:accent6>
      <a:hlink>
        <a:srgbClr val="000000"/>
      </a:hlink>
      <a:folHlink>
        <a:srgbClr val="000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tx1"/>
          </a:solidFill>
        </a:ln>
      </a:spPr>
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</a:spPr>
      <a:bodyPr wrap="square" lIns="180000" tIns="180000" rIns="180000" bIns="180000">
        <a:noAutofit/>
      </a:bodyPr>
      <a:lstStyle>
        <a:defPPr marL="0">
          <a:lnSpc>
            <a:spcPct val="110000"/>
          </a:lnSpc>
          <a:spcAft>
            <a:spcPts val="600"/>
          </a:spcAft>
          <a:defRPr sz="1800" dirty="0" smtClean="0">
            <a:latin typeface="Calibri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1183</Words>
  <Application>Microsoft Office PowerPoint</Application>
  <PresentationFormat>Bildschirmpräsentation (4:3)</PresentationFormat>
  <Paragraphs>65</Paragraphs>
  <Slides>5</Slides>
  <Notes>1</Notes>
  <HiddenSlides>4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6" baseType="lpstr">
      <vt:lpstr>Folienmaster final</vt:lpstr>
      <vt:lpstr>Oral presentation</vt:lpstr>
      <vt:lpstr>Oral presentation</vt:lpstr>
      <vt:lpstr>Oral presentation</vt:lpstr>
      <vt:lpstr>Oral presentation</vt:lpstr>
      <vt:lpstr>Literature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Fabian Schade</dc:creator>
  <cp:lastModifiedBy>Manouchehr</cp:lastModifiedBy>
  <cp:revision>1035</cp:revision>
  <cp:lastPrinted>2019-05-13T07:50:15Z</cp:lastPrinted>
  <dcterms:created xsi:type="dcterms:W3CDTF">2015-01-13T11:31:27Z</dcterms:created>
  <dcterms:modified xsi:type="dcterms:W3CDTF">2019-09-17T11:23:44Z</dcterms:modified>
</cp:coreProperties>
</file>